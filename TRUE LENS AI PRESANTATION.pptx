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71" r:id="rId5"/>
    <p:sldId id="262" r:id="rId6"/>
    <p:sldId id="289" r:id="rId7"/>
    <p:sldId id="288" r:id="rId8"/>
    <p:sldId id="261" r:id="rId9"/>
    <p:sldId id="260" r:id="rId10"/>
    <p:sldId id="264" r:id="rId11"/>
    <p:sldId id="290" r:id="rId12"/>
    <p:sldId id="259" r:id="rId13"/>
    <p:sldId id="279" r:id="rId14"/>
    <p:sldId id="292" r:id="rId15"/>
    <p:sldId id="287" r:id="rId16"/>
  </p:sldIdLst>
  <p:sldSz cx="18288000" cy="10287000"/>
  <p:notesSz cx="6858000" cy="9144000"/>
  <p:embeddedFontLst>
    <p:embeddedFont>
      <p:font typeface="Montserrat Classic" panose="020B0604020202020204" charset="0"/>
      <p:regular r:id="rId18"/>
    </p:embeddedFont>
    <p:embeddedFont>
      <p:font typeface="Neue Machina" panose="020B0604020202020204" charset="0"/>
      <p:regular r:id="rId19"/>
    </p:embeddedFont>
    <p:embeddedFont>
      <p:font typeface="Century" panose="02040604050505020304" pitchFamily="18" charset="0"/>
      <p:regular r:id="rId20"/>
    </p:embeddedFont>
    <p:embeddedFont>
      <p:font typeface="League Spartan" panose="020B0604020202020204" charset="0"/>
      <p:regular r:id="rId21"/>
    </p:embeddedFont>
    <p:embeddedFont>
      <p:font typeface="Poppins" panose="020B0604020202020204" charset="0"/>
      <p:regular r:id="rId22"/>
    </p:embeddedFont>
    <p:embeddedFont>
      <p:font typeface="Constantia" panose="02030602050306030303" pitchFamily="18" charset="0"/>
      <p:regular r:id="rId23"/>
      <p:bold r:id="rId24"/>
      <p:italic r:id="rId25"/>
      <p:boldItalic r:id="rId26"/>
    </p:embeddedFont>
    <p:embeddedFont>
      <p:font typeface="Inter Bold" panose="020B0604020202020204" charset="0"/>
      <p:regular r:id="rId27"/>
    </p:embeddedFont>
    <p:embeddedFont>
      <p:font typeface="Kollektif" panose="020B0604020202020204" charset="0"/>
      <p:regular r:id="rId28"/>
    </p:embeddedFont>
    <p:embeddedFont>
      <p:font typeface="Corbel" panose="020B0503020204020204" pitchFamily="34" charset="0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Roboto Bold" panose="020B0604020202020204" charset="0"/>
      <p:regular r:id="rId37"/>
    </p:embeddedFont>
    <p:embeddedFont>
      <p:font typeface="Arial Black" panose="020B0A04020102020204" pitchFamily="34" charset="0"/>
      <p:bold r:id="rId38"/>
    </p:embeddedFont>
    <p:embeddedFont>
      <p:font typeface="Calibri Light" panose="020F0302020204030204" pitchFamily="34" charset="0"/>
      <p:regular r:id="rId39"/>
      <p:italic r:id="rId40"/>
    </p:embeddedFont>
    <p:embeddedFont>
      <p:font typeface="Open Sans 1 Bold" panose="020B0604020202020204" charset="0"/>
      <p:regular r:id="rId41"/>
    </p:embeddedFont>
    <p:embeddedFont>
      <p:font typeface="Bauhaus 93" panose="04030905020B02020C02" pitchFamily="82" charset="0"/>
      <p:regular r:id="rId42"/>
    </p:embeddedFont>
    <p:embeddedFont>
      <p:font typeface="Neue Machina Ultra-Bold" panose="020B0604020202020204" charset="0"/>
      <p:regular r:id="rId43"/>
    </p:embeddedFont>
    <p:embeddedFont>
      <p:font typeface="Montserrat Classic Bold" panose="020B0604020202020204" charset="0"/>
      <p:regular r:id="rId44"/>
    </p:embeddedFont>
    <p:embeddedFont>
      <p:font typeface="Inter" panose="020B0604020202020204" charset="0"/>
      <p:regular r:id="rId45"/>
    </p:embeddedFont>
    <p:embeddedFont>
      <p:font typeface="Microsoft Sans Serif" panose="020B0604020202020204" pitchFamily="34" charset="0"/>
      <p:regular r:id="rId46"/>
    </p:embeddedFont>
    <p:embeddedFont>
      <p:font typeface="Proxima Nova" panose="020B0604020202020204" charset="0"/>
      <p:regular r:id="rId47"/>
    </p:embeddedFont>
    <p:embeddedFont>
      <p:font typeface="Tomorrow" panose="020B0604020202020204" charset="0"/>
      <p:regular r:id="rId48"/>
    </p:embeddedFont>
    <p:embeddedFont>
      <p:font typeface="Lato Bold" panose="020B0604020202020204" charset="0"/>
      <p:regular r:id="rId49"/>
    </p:embeddedFont>
    <p:embeddedFont>
      <p:font typeface="Telegraf 1 Medium" panose="020B0604020202020204" charset="0"/>
      <p:regular r:id="rId50"/>
    </p:embeddedFont>
    <p:embeddedFont>
      <p:font typeface="Montserrat Heavy" panose="020B0604020202020204" charset="0"/>
      <p:regular r:id="rId51"/>
    </p:embeddedFont>
    <p:embeddedFont>
      <p:font typeface="Bahnschrift SemiBold" panose="020B0502040204020203" pitchFamily="34" charset="0"/>
      <p:bold r:id="rId52"/>
    </p:embeddedFont>
    <p:embeddedFont>
      <p:font typeface="Telegraf 1 Ultra-Bold" panose="020B0604020202020204" charset="0"/>
      <p:regular r:id="rId53"/>
    </p:embeddedFont>
    <p:embeddedFont>
      <p:font typeface="Cambria" panose="02040503050406030204" pitchFamily="18" charset="0"/>
      <p:regular r:id="rId54"/>
      <p:bold r:id="rId55"/>
      <p:italic r:id="rId56"/>
      <p:boldItalic r:id="rId57"/>
    </p:embeddedFont>
    <p:embeddedFont>
      <p:font typeface="Bahnschrift Condensed" panose="020B0502040204020203" pitchFamily="34" charset="0"/>
      <p:regular r:id="rId58"/>
      <p:bold r:id="rId59"/>
    </p:embeddedFont>
    <p:embeddedFont>
      <p:font typeface="Franklin Gothic Medium" panose="020B0603020102020204" pitchFamily="34" charset="0"/>
      <p:regular r:id="rId60"/>
      <p:italic r:id="rId61"/>
    </p:embeddedFont>
    <p:embeddedFont>
      <p:font typeface="Telegraf 1" panose="020B0604020202020204" charset="0"/>
      <p:regular r:id="rId62"/>
    </p:embeddedFont>
    <p:embeddedFont>
      <p:font typeface="Bahnschrift SemiBold Condensed" panose="020B0502040204020203" pitchFamily="34" charset="0"/>
      <p:bold r:id="rId63"/>
    </p:embeddedFont>
    <p:embeddedFont>
      <p:font typeface="Impact" panose="020B0806030902050204" pitchFamily="34" charset="0"/>
      <p:regular r:id="rId64"/>
    </p:embeddedFont>
    <p:embeddedFont>
      <p:font typeface="Bahnschrift" panose="020B0502040204020203" pitchFamily="34" charset="0"/>
      <p:regular r:id="rId65"/>
      <p:bold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0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font" Target="fonts/font30.fntdata"/><Relationship Id="rId50" Type="http://schemas.openxmlformats.org/officeDocument/2006/relationships/font" Target="fonts/font33.fntdata"/><Relationship Id="rId55" Type="http://schemas.openxmlformats.org/officeDocument/2006/relationships/font" Target="fonts/font38.fntdata"/><Relationship Id="rId63" Type="http://schemas.openxmlformats.org/officeDocument/2006/relationships/font" Target="fonts/font46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3" Type="http://schemas.openxmlformats.org/officeDocument/2006/relationships/font" Target="fonts/font36.fntdata"/><Relationship Id="rId58" Type="http://schemas.openxmlformats.org/officeDocument/2006/relationships/font" Target="fonts/font41.fntdata"/><Relationship Id="rId66" Type="http://schemas.openxmlformats.org/officeDocument/2006/relationships/font" Target="fonts/font4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font" Target="fonts/font32.fntdata"/><Relationship Id="rId57" Type="http://schemas.openxmlformats.org/officeDocument/2006/relationships/font" Target="fonts/font40.fntdata"/><Relationship Id="rId61" Type="http://schemas.openxmlformats.org/officeDocument/2006/relationships/font" Target="fonts/font44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52" Type="http://schemas.openxmlformats.org/officeDocument/2006/relationships/font" Target="fonts/font35.fntdata"/><Relationship Id="rId60" Type="http://schemas.openxmlformats.org/officeDocument/2006/relationships/font" Target="fonts/font43.fntdata"/><Relationship Id="rId65" Type="http://schemas.openxmlformats.org/officeDocument/2006/relationships/font" Target="fonts/font4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font" Target="fonts/font31.fntdata"/><Relationship Id="rId56" Type="http://schemas.openxmlformats.org/officeDocument/2006/relationships/font" Target="fonts/font39.fntdata"/><Relationship Id="rId64" Type="http://schemas.openxmlformats.org/officeDocument/2006/relationships/font" Target="fonts/font47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3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font" Target="fonts/font29.fntdata"/><Relationship Id="rId59" Type="http://schemas.openxmlformats.org/officeDocument/2006/relationships/font" Target="fonts/font42.fntdata"/><Relationship Id="rId67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4" Type="http://schemas.openxmlformats.org/officeDocument/2006/relationships/font" Target="fonts/font37.fntdata"/><Relationship Id="rId62" Type="http://schemas.openxmlformats.org/officeDocument/2006/relationships/font" Target="fonts/font45.fntdata"/><Relationship Id="rId7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07F19-1F50-4B42-A7A0-278DF9D25BB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5611F0-8256-4954-B6CB-ED6B4F2DD397}">
      <dgm:prSet custT="1"/>
      <dgm:spPr>
        <a:xfrm>
          <a:off x="627102" y="838001"/>
          <a:ext cx="8397716" cy="735806"/>
        </a:xfrm>
        <a:prstGeom prst="rect">
          <a:avLst/>
        </a:prstGeom>
        <a:solidFill>
          <a:srgbClr val="3F3DE3"/>
        </a:solidFill>
        <a:ln w="15875" cap="flat" cmpd="sng" algn="ctr">
          <a:noFill/>
          <a:prstDash val="solid"/>
        </a:ln>
        <a:effectLst/>
      </dgm:spPr>
      <dgm:t>
        <a:bodyPr lIns="288000"/>
        <a:lstStyle/>
        <a:p>
          <a:r>
            <a:rPr lang="en-US" sz="2400" dirty="0" smtClean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Structured Fact-Checking</a:t>
          </a:r>
          <a:endParaRPr lang="en-US" sz="1600" dirty="0">
            <a:solidFill>
              <a:srgbClr val="3F3DE3">
                <a:lumMod val="20000"/>
                <a:lumOff val="8000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CD7328D6-9FAE-4506-9BDB-E06A571EC1D4}" type="parTrans" cxnId="{914FACD2-336A-4471-9E99-312B3F8EAB04}">
      <dgm:prSet/>
      <dgm:spPr/>
      <dgm:t>
        <a:bodyPr/>
        <a:lstStyle/>
        <a:p>
          <a:endParaRPr lang="en-US"/>
        </a:p>
      </dgm:t>
    </dgm:pt>
    <dgm:pt modelId="{6BD5265A-8333-420D-BDB2-65F10B3EBD76}" type="sibTrans" cxnId="{914FACD2-336A-4471-9E99-312B3F8EAB04}">
      <dgm:prSet/>
      <dgm:spPr>
        <a:xfrm>
          <a:off x="8303509" y="1375549"/>
          <a:ext cx="478274" cy="478274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gm:spPr>
      <dgm:t>
        <a:bodyPr/>
        <a:lstStyle/>
        <a:p>
          <a:endParaRPr 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22625139-F93A-4F3F-A7AA-4923A01AEDF3}">
      <dgm:prSet custT="1"/>
      <dgm:spPr>
        <a:xfrm>
          <a:off x="1254204" y="1676003"/>
          <a:ext cx="8397716" cy="735806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gm:spPr>
      <dgm:t>
        <a:bodyPr lIns="288000"/>
        <a:lstStyle/>
        <a:p>
          <a:r>
            <a:rPr lang="en-US" sz="24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Clear Routing Logic</a:t>
          </a:r>
          <a:endParaRPr lang="en-US" sz="16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F549A0EB-6BE9-4749-8336-B02A279AE302}" type="parTrans" cxnId="{FC7721F0-429B-4CE7-BE98-C2F3C41FE9C7}">
      <dgm:prSet/>
      <dgm:spPr/>
      <dgm:t>
        <a:bodyPr/>
        <a:lstStyle/>
        <a:p>
          <a:endParaRPr lang="en-US"/>
        </a:p>
      </dgm:t>
    </dgm:pt>
    <dgm:pt modelId="{A8E2FA08-4DD4-4654-A85D-9A99162D6201}" type="sibTrans" cxnId="{FC7721F0-429B-4CE7-BE98-C2F3C41FE9C7}">
      <dgm:prSet/>
      <dgm:spPr>
        <a:xfrm>
          <a:off x="8930611" y="2201287"/>
          <a:ext cx="478274" cy="478274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gm:spPr>
      <dgm:t>
        <a:bodyPr/>
        <a:lstStyle/>
        <a:p>
          <a:endParaRPr 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140952D0-0E1D-4F48-9F16-53581487CFA0}">
      <dgm:prSet custT="1"/>
      <dgm:spPr>
        <a:xfrm>
          <a:off x="1881306" y="2514004"/>
          <a:ext cx="8397716" cy="735806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gm:spPr>
      <dgm:t>
        <a:bodyPr lIns="288000"/>
        <a:lstStyle/>
        <a:p>
          <a:r>
            <a:rPr lang="en-US" sz="24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Full Traceability</a:t>
          </a:r>
          <a:endParaRPr lang="en-US" sz="16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790C446F-6917-41E7-BE01-7AFE2676D505}" type="parTrans" cxnId="{B07163E8-ADEC-492A-8F07-7E5786AB23AE}">
      <dgm:prSet/>
      <dgm:spPr/>
      <dgm:t>
        <a:bodyPr/>
        <a:lstStyle/>
        <a:p>
          <a:endParaRPr lang="en-US"/>
        </a:p>
      </dgm:t>
    </dgm:pt>
    <dgm:pt modelId="{2804F27C-9BA9-4D07-AB02-74BE7DFA2C0E}" type="sibTrans" cxnId="{B07163E8-ADEC-492A-8F07-7E5786AB23AE}">
      <dgm:prSet/>
      <dgm:spPr>
        <a:xfrm>
          <a:off x="9557713" y="3047464"/>
          <a:ext cx="478274" cy="478274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gm:spPr>
      <dgm:t>
        <a:bodyPr/>
        <a:lstStyle/>
        <a:p>
          <a:endParaRPr 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C2F8C7F7-44C4-414A-BCCD-56E91DD0A777}">
      <dgm:prSet custT="1"/>
      <dgm:spPr>
        <a:xfrm>
          <a:off x="2508408" y="3352006"/>
          <a:ext cx="8397716" cy="735806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gm:spPr>
      <dgm:t>
        <a:bodyPr lIns="288000"/>
        <a:lstStyle/>
        <a:p>
          <a:r>
            <a:rPr lang="en-US" sz="240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Human-in-Loop </a:t>
          </a:r>
          <a:r>
            <a:rPr lang="en-US" sz="24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Support</a:t>
          </a:r>
          <a:endParaRPr lang="en-US" sz="1600" dirty="0">
            <a:solidFill>
              <a:srgbClr val="3F3DE3">
                <a:lumMod val="60000"/>
                <a:lumOff val="40000"/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E6C6DF88-9436-40D7-BA84-18FE896A6151}" type="parTrans" cxnId="{14D43B81-F92D-4CD8-9D1E-78CBF092C750}">
      <dgm:prSet/>
      <dgm:spPr/>
      <dgm:t>
        <a:bodyPr/>
        <a:lstStyle/>
        <a:p>
          <a:endParaRPr lang="en-US"/>
        </a:p>
      </dgm:t>
    </dgm:pt>
    <dgm:pt modelId="{4E39967D-43EF-4F15-814A-2F491D900D43}" type="sibTrans" cxnId="{14D43B81-F92D-4CD8-9D1E-78CBF092C750}">
      <dgm:prSet/>
      <dgm:spPr/>
      <dgm:t>
        <a:bodyPr/>
        <a:lstStyle/>
        <a:p>
          <a:endParaRPr lang="en-US"/>
        </a:p>
      </dgm:t>
    </dgm:pt>
    <dgm:pt modelId="{2EE95FC5-CD6B-4A50-9262-DC414E16C3EA}">
      <dgm:prSet custT="1"/>
      <dgm:spPr>
        <a:xfrm>
          <a:off x="335" y="0"/>
          <a:ext cx="8397716" cy="735806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gm:spPr>
      <dgm:t>
        <a:bodyPr lIns="288000"/>
        <a:lstStyle/>
        <a:p>
          <a:r>
            <a:rPr lang="en-US" sz="24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Easy Workflow Building</a:t>
          </a:r>
          <a:endParaRPr lang="en-US" sz="20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C99EBBB1-E916-471C-83C9-ABE85B42AC26}" type="sibTrans" cxnId="{B3F19EC2-A372-4EC3-BFE0-C62FFDFE3DF6}">
      <dgm:prSet/>
      <dgm:spPr>
        <a:xfrm>
          <a:off x="7676407" y="537547"/>
          <a:ext cx="478274" cy="478274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gm:spPr>
      <dgm:t>
        <a:bodyPr/>
        <a:lstStyle/>
        <a:p>
          <a:endParaRPr 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gm:t>
    </dgm:pt>
    <dgm:pt modelId="{75374347-884B-4721-8CFF-DF080F5B1C79}" type="parTrans" cxnId="{B3F19EC2-A372-4EC3-BFE0-C62FFDFE3DF6}">
      <dgm:prSet/>
      <dgm:spPr/>
      <dgm:t>
        <a:bodyPr/>
        <a:lstStyle/>
        <a:p>
          <a:endParaRPr lang="en-US"/>
        </a:p>
      </dgm:t>
    </dgm:pt>
    <dgm:pt modelId="{F7C64FE4-B743-4173-AF38-E15B373860BB}" type="pres">
      <dgm:prSet presAssocID="{D0F07F19-1F50-4B42-A7A0-278DF9D25BB1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EDE452-776E-43EB-9FFD-1764B73AB173}" type="pres">
      <dgm:prSet presAssocID="{D0F07F19-1F50-4B42-A7A0-278DF9D25BB1}" presName="dummyMaxCanvas" presStyleCnt="0">
        <dgm:presLayoutVars/>
      </dgm:prSet>
      <dgm:spPr/>
    </dgm:pt>
    <dgm:pt modelId="{25D33812-34D6-4226-A6D4-51F7D7EAA1C7}" type="pres">
      <dgm:prSet presAssocID="{D0F07F19-1F50-4B42-A7A0-278DF9D25BB1}" presName="FiveNodes_1" presStyleLbl="node1" presStyleIdx="0" presStyleCnt="5" custLinFactNeighborX="1036" custLinFactNeighborY="9679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7C86B145-1C2E-46BD-BE62-C42C80C5A654}" type="pres">
      <dgm:prSet presAssocID="{D0F07F19-1F50-4B42-A7A0-278DF9D25BB1}" presName="FiveNodes_2" presStyleLbl="node1" presStyleIdx="1" presStyleCnt="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862B5B41-53F5-454A-B8E6-70B721DC8B9A}" type="pres">
      <dgm:prSet presAssocID="{D0F07F19-1F50-4B42-A7A0-278DF9D25BB1}" presName="FiveNodes_3" presStyleLbl="node1" presStyleIdx="2" presStyleCnt="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D134E212-FDD1-424A-968F-869017AD5171}" type="pres">
      <dgm:prSet presAssocID="{D0F07F19-1F50-4B42-A7A0-278DF9D25BB1}" presName="FiveNodes_4" presStyleLbl="node1" presStyleIdx="3" presStyleCnt="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9CB462FF-72B3-4BFA-B916-65C5CB432162}" type="pres">
      <dgm:prSet presAssocID="{D0F07F19-1F50-4B42-A7A0-278DF9D25BB1}" presName="FiveNodes_5" presStyleLbl="node1" presStyleIdx="4" presStyleCnt="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0CB2EC4F-D832-4AE2-86CC-14F684CFA4E5}" type="pres">
      <dgm:prSet presAssocID="{D0F07F19-1F50-4B42-A7A0-278DF9D25BB1}" presName="FiveConn_1-2" presStyleLbl="fgAccFollowNode1" presStyleIdx="0" presStyleCnt="4" custLinFactNeighborX="-508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DA9257-7161-48BA-BB8E-B2323EF3B158}" type="pres">
      <dgm:prSet presAssocID="{D0F07F19-1F50-4B42-A7A0-278DF9D25BB1}" presName="FiveConn_2-3" presStyleLbl="fgAccFollowNode1" presStyleIdx="1" presStyleCnt="4" custLinFactNeighborX="-508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EE3320-F765-411D-B4AD-9D1CFC5DEDDD}" type="pres">
      <dgm:prSet presAssocID="{D0F07F19-1F50-4B42-A7A0-278DF9D25BB1}" presName="FiveConn_3-4" presStyleLbl="fgAccFollowNode1" presStyleIdx="2" presStyleCnt="4" custLinFactNeighborX="-508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2DC1E0-C267-4605-BE6F-5701FC898420}" type="pres">
      <dgm:prSet presAssocID="{D0F07F19-1F50-4B42-A7A0-278DF9D25BB1}" presName="FiveConn_4-5" presStyleLbl="fgAccFollowNode1" presStyleIdx="3" presStyleCnt="4" custLinFactNeighborX="-508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30DAD6-1C3C-4736-BA6C-AFB4505579B9}" type="pres">
      <dgm:prSet presAssocID="{D0F07F19-1F50-4B42-A7A0-278DF9D25BB1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150CD5-279D-4D74-89D1-64AAFB7C488C}" type="pres">
      <dgm:prSet presAssocID="{D0F07F19-1F50-4B42-A7A0-278DF9D25BB1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D22318-0819-466B-8466-17D55738B7D7}" type="pres">
      <dgm:prSet presAssocID="{D0F07F19-1F50-4B42-A7A0-278DF9D25BB1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7690F5-2C8D-406A-80FD-BB328C770292}" type="pres">
      <dgm:prSet presAssocID="{D0F07F19-1F50-4B42-A7A0-278DF9D25BB1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F75BF2-0CEF-4F30-A326-AB2D35C7411C}" type="pres">
      <dgm:prSet presAssocID="{D0F07F19-1F50-4B42-A7A0-278DF9D25BB1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034B8C-A855-490D-80D9-75A43CE3708E}" type="presOf" srcId="{22625139-F93A-4F3F-A7AA-4923A01AEDF3}" destId="{862B5B41-53F5-454A-B8E6-70B721DC8B9A}" srcOrd="0" destOrd="0" presId="urn:microsoft.com/office/officeart/2005/8/layout/vProcess5"/>
    <dgm:cxn modelId="{B3F19EC2-A372-4EC3-BFE0-C62FFDFE3DF6}" srcId="{D0F07F19-1F50-4B42-A7A0-278DF9D25BB1}" destId="{2EE95FC5-CD6B-4A50-9262-DC414E16C3EA}" srcOrd="0" destOrd="0" parTransId="{75374347-884B-4721-8CFF-DF080F5B1C79}" sibTransId="{C99EBBB1-E916-471C-83C9-ABE85B42AC26}"/>
    <dgm:cxn modelId="{914FACD2-336A-4471-9E99-312B3F8EAB04}" srcId="{D0F07F19-1F50-4B42-A7A0-278DF9D25BB1}" destId="{F05611F0-8256-4954-B6CB-ED6B4F2DD397}" srcOrd="1" destOrd="0" parTransId="{CD7328D6-9FAE-4506-9BDB-E06A571EC1D4}" sibTransId="{6BD5265A-8333-420D-BDB2-65F10B3EBD76}"/>
    <dgm:cxn modelId="{8351933B-04D2-436A-A0EE-7A82DB5F9748}" type="presOf" srcId="{F05611F0-8256-4954-B6CB-ED6B4F2DD397}" destId="{7C86B145-1C2E-46BD-BE62-C42C80C5A654}" srcOrd="0" destOrd="0" presId="urn:microsoft.com/office/officeart/2005/8/layout/vProcess5"/>
    <dgm:cxn modelId="{E11F9D73-278E-422F-9414-F80754447242}" type="presOf" srcId="{F05611F0-8256-4954-B6CB-ED6B4F2DD397}" destId="{34150CD5-279D-4D74-89D1-64AAFB7C488C}" srcOrd="1" destOrd="0" presId="urn:microsoft.com/office/officeart/2005/8/layout/vProcess5"/>
    <dgm:cxn modelId="{1B0C7E86-3032-4F0C-9F06-8047268B8643}" type="presOf" srcId="{2EE95FC5-CD6B-4A50-9262-DC414E16C3EA}" destId="{25D33812-34D6-4226-A6D4-51F7D7EAA1C7}" srcOrd="0" destOrd="0" presId="urn:microsoft.com/office/officeart/2005/8/layout/vProcess5"/>
    <dgm:cxn modelId="{1FDFC784-73EE-4B55-8533-319A43CCC3B0}" type="presOf" srcId="{140952D0-0E1D-4F48-9F16-53581487CFA0}" destId="{5F7690F5-2C8D-406A-80FD-BB328C770292}" srcOrd="1" destOrd="0" presId="urn:microsoft.com/office/officeart/2005/8/layout/vProcess5"/>
    <dgm:cxn modelId="{15F175F0-C7FA-4E61-82A4-7C1B46EB3DA2}" type="presOf" srcId="{A8E2FA08-4DD4-4654-A85D-9A99162D6201}" destId="{6FEE3320-F765-411D-B4AD-9D1CFC5DEDDD}" srcOrd="0" destOrd="0" presId="urn:microsoft.com/office/officeart/2005/8/layout/vProcess5"/>
    <dgm:cxn modelId="{7BADF88F-51D4-49BB-A339-04018A869FEB}" type="presOf" srcId="{22625139-F93A-4F3F-A7AA-4923A01AEDF3}" destId="{11D22318-0819-466B-8466-17D55738B7D7}" srcOrd="1" destOrd="0" presId="urn:microsoft.com/office/officeart/2005/8/layout/vProcess5"/>
    <dgm:cxn modelId="{485ECF6E-F3E1-44D9-A505-EB159DE97BF4}" type="presOf" srcId="{C99EBBB1-E916-471C-83C9-ABE85B42AC26}" destId="{0CB2EC4F-D832-4AE2-86CC-14F684CFA4E5}" srcOrd="0" destOrd="0" presId="urn:microsoft.com/office/officeart/2005/8/layout/vProcess5"/>
    <dgm:cxn modelId="{9B4632FC-4573-46D2-9511-7A26ED798FF0}" type="presOf" srcId="{C2F8C7F7-44C4-414A-BCCD-56E91DD0A777}" destId="{77F75BF2-0CEF-4F30-A326-AB2D35C7411C}" srcOrd="1" destOrd="0" presId="urn:microsoft.com/office/officeart/2005/8/layout/vProcess5"/>
    <dgm:cxn modelId="{56406FE1-5406-4C01-BF01-F2CE5B3CB37F}" type="presOf" srcId="{6BD5265A-8333-420D-BDB2-65F10B3EBD76}" destId="{03DA9257-7161-48BA-BB8E-B2323EF3B158}" srcOrd="0" destOrd="0" presId="urn:microsoft.com/office/officeart/2005/8/layout/vProcess5"/>
    <dgm:cxn modelId="{14D43B81-F92D-4CD8-9D1E-78CBF092C750}" srcId="{D0F07F19-1F50-4B42-A7A0-278DF9D25BB1}" destId="{C2F8C7F7-44C4-414A-BCCD-56E91DD0A777}" srcOrd="4" destOrd="0" parTransId="{E6C6DF88-9436-40D7-BA84-18FE896A6151}" sibTransId="{4E39967D-43EF-4F15-814A-2F491D900D43}"/>
    <dgm:cxn modelId="{B07163E8-ADEC-492A-8F07-7E5786AB23AE}" srcId="{D0F07F19-1F50-4B42-A7A0-278DF9D25BB1}" destId="{140952D0-0E1D-4F48-9F16-53581487CFA0}" srcOrd="3" destOrd="0" parTransId="{790C446F-6917-41E7-BE01-7AFE2676D505}" sibTransId="{2804F27C-9BA9-4D07-AB02-74BE7DFA2C0E}"/>
    <dgm:cxn modelId="{0FE1A00A-23A6-4F26-952E-314F937E5249}" type="presOf" srcId="{140952D0-0E1D-4F48-9F16-53581487CFA0}" destId="{D134E212-FDD1-424A-968F-869017AD5171}" srcOrd="0" destOrd="0" presId="urn:microsoft.com/office/officeart/2005/8/layout/vProcess5"/>
    <dgm:cxn modelId="{FC7721F0-429B-4CE7-BE98-C2F3C41FE9C7}" srcId="{D0F07F19-1F50-4B42-A7A0-278DF9D25BB1}" destId="{22625139-F93A-4F3F-A7AA-4923A01AEDF3}" srcOrd="2" destOrd="0" parTransId="{F549A0EB-6BE9-4749-8336-B02A279AE302}" sibTransId="{A8E2FA08-4DD4-4654-A85D-9A99162D6201}"/>
    <dgm:cxn modelId="{F9537061-193E-4768-B1F8-09003599B7A2}" type="presOf" srcId="{2EE95FC5-CD6B-4A50-9262-DC414E16C3EA}" destId="{A130DAD6-1C3C-4736-BA6C-AFB4505579B9}" srcOrd="1" destOrd="0" presId="urn:microsoft.com/office/officeart/2005/8/layout/vProcess5"/>
    <dgm:cxn modelId="{9E36192A-F7A0-4E6F-994F-52DDB618BFA0}" type="presOf" srcId="{D0F07F19-1F50-4B42-A7A0-278DF9D25BB1}" destId="{F7C64FE4-B743-4173-AF38-E15B373860BB}" srcOrd="0" destOrd="0" presId="urn:microsoft.com/office/officeart/2005/8/layout/vProcess5"/>
    <dgm:cxn modelId="{82149EE0-57D4-40ED-8BE4-EFDD781B1BE1}" type="presOf" srcId="{2804F27C-9BA9-4D07-AB02-74BE7DFA2C0E}" destId="{E32DC1E0-C267-4605-BE6F-5701FC898420}" srcOrd="0" destOrd="0" presId="urn:microsoft.com/office/officeart/2005/8/layout/vProcess5"/>
    <dgm:cxn modelId="{A9BB079A-D288-40FF-A4BD-812C9A8FAA68}" type="presOf" srcId="{C2F8C7F7-44C4-414A-BCCD-56E91DD0A777}" destId="{9CB462FF-72B3-4BFA-B916-65C5CB432162}" srcOrd="0" destOrd="0" presId="urn:microsoft.com/office/officeart/2005/8/layout/vProcess5"/>
    <dgm:cxn modelId="{893DC0C3-8466-4BE3-AEFA-2743167A1ED0}" type="presParOf" srcId="{F7C64FE4-B743-4173-AF38-E15B373860BB}" destId="{38EDE452-776E-43EB-9FFD-1764B73AB173}" srcOrd="0" destOrd="0" presId="urn:microsoft.com/office/officeart/2005/8/layout/vProcess5"/>
    <dgm:cxn modelId="{D67FC091-84D1-45A6-A498-38CB49EF5C68}" type="presParOf" srcId="{F7C64FE4-B743-4173-AF38-E15B373860BB}" destId="{25D33812-34D6-4226-A6D4-51F7D7EAA1C7}" srcOrd="1" destOrd="0" presId="urn:microsoft.com/office/officeart/2005/8/layout/vProcess5"/>
    <dgm:cxn modelId="{62FAF470-57FB-42EF-A2A2-A1AE3292F1EA}" type="presParOf" srcId="{F7C64FE4-B743-4173-AF38-E15B373860BB}" destId="{7C86B145-1C2E-46BD-BE62-C42C80C5A654}" srcOrd="2" destOrd="0" presId="urn:microsoft.com/office/officeart/2005/8/layout/vProcess5"/>
    <dgm:cxn modelId="{369292A9-817E-4BFB-93B0-8218A9EE9166}" type="presParOf" srcId="{F7C64FE4-B743-4173-AF38-E15B373860BB}" destId="{862B5B41-53F5-454A-B8E6-70B721DC8B9A}" srcOrd="3" destOrd="0" presId="urn:microsoft.com/office/officeart/2005/8/layout/vProcess5"/>
    <dgm:cxn modelId="{CEEF7AE8-8659-43E6-95C3-9FD4D0DCFC43}" type="presParOf" srcId="{F7C64FE4-B743-4173-AF38-E15B373860BB}" destId="{D134E212-FDD1-424A-968F-869017AD5171}" srcOrd="4" destOrd="0" presId="urn:microsoft.com/office/officeart/2005/8/layout/vProcess5"/>
    <dgm:cxn modelId="{0311475E-4F93-4892-BE4B-86C622D97CFB}" type="presParOf" srcId="{F7C64FE4-B743-4173-AF38-E15B373860BB}" destId="{9CB462FF-72B3-4BFA-B916-65C5CB432162}" srcOrd="5" destOrd="0" presId="urn:microsoft.com/office/officeart/2005/8/layout/vProcess5"/>
    <dgm:cxn modelId="{E89DF94A-4045-4C8F-A9FB-CAC7F98EF112}" type="presParOf" srcId="{F7C64FE4-B743-4173-AF38-E15B373860BB}" destId="{0CB2EC4F-D832-4AE2-86CC-14F684CFA4E5}" srcOrd="6" destOrd="0" presId="urn:microsoft.com/office/officeart/2005/8/layout/vProcess5"/>
    <dgm:cxn modelId="{78DB7A5B-08E6-4494-8716-3E031BF46BD6}" type="presParOf" srcId="{F7C64FE4-B743-4173-AF38-E15B373860BB}" destId="{03DA9257-7161-48BA-BB8E-B2323EF3B158}" srcOrd="7" destOrd="0" presId="urn:microsoft.com/office/officeart/2005/8/layout/vProcess5"/>
    <dgm:cxn modelId="{B8212E95-1A15-4A8C-BC26-C76A84E0F2A2}" type="presParOf" srcId="{F7C64FE4-B743-4173-AF38-E15B373860BB}" destId="{6FEE3320-F765-411D-B4AD-9D1CFC5DEDDD}" srcOrd="8" destOrd="0" presId="urn:microsoft.com/office/officeart/2005/8/layout/vProcess5"/>
    <dgm:cxn modelId="{288A9D90-0DCF-4967-B280-A2B2D4648682}" type="presParOf" srcId="{F7C64FE4-B743-4173-AF38-E15B373860BB}" destId="{E32DC1E0-C267-4605-BE6F-5701FC898420}" srcOrd="9" destOrd="0" presId="urn:microsoft.com/office/officeart/2005/8/layout/vProcess5"/>
    <dgm:cxn modelId="{68599145-9665-42CA-9652-5890A0952F28}" type="presParOf" srcId="{F7C64FE4-B743-4173-AF38-E15B373860BB}" destId="{A130DAD6-1C3C-4736-BA6C-AFB4505579B9}" srcOrd="10" destOrd="0" presId="urn:microsoft.com/office/officeart/2005/8/layout/vProcess5"/>
    <dgm:cxn modelId="{8E296F24-C5D7-4CB5-91F0-C0FAC0744963}" type="presParOf" srcId="{F7C64FE4-B743-4173-AF38-E15B373860BB}" destId="{34150CD5-279D-4D74-89D1-64AAFB7C488C}" srcOrd="11" destOrd="0" presId="urn:microsoft.com/office/officeart/2005/8/layout/vProcess5"/>
    <dgm:cxn modelId="{619B085F-AA9E-49A5-81F5-7FDB54B1956D}" type="presParOf" srcId="{F7C64FE4-B743-4173-AF38-E15B373860BB}" destId="{11D22318-0819-466B-8466-17D55738B7D7}" srcOrd="12" destOrd="0" presId="urn:microsoft.com/office/officeart/2005/8/layout/vProcess5"/>
    <dgm:cxn modelId="{06F85501-EF54-4751-BE2B-F673EB5C732A}" type="presParOf" srcId="{F7C64FE4-B743-4173-AF38-E15B373860BB}" destId="{5F7690F5-2C8D-406A-80FD-BB328C770292}" srcOrd="13" destOrd="0" presId="urn:microsoft.com/office/officeart/2005/8/layout/vProcess5"/>
    <dgm:cxn modelId="{86FFED00-5FFB-4C50-9751-A96BEB1551C0}" type="presParOf" srcId="{F7C64FE4-B743-4173-AF38-E15B373860BB}" destId="{77F75BF2-0CEF-4F30-A326-AB2D35C7411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33812-34D6-4226-A6D4-51F7D7EAA1C7}">
      <dsp:nvSpPr>
        <dsp:cNvPr id="0" name=""/>
        <dsp:cNvSpPr/>
      </dsp:nvSpPr>
      <dsp:spPr>
        <a:xfrm>
          <a:off x="86306" y="101835"/>
          <a:ext cx="8330743" cy="1052131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0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Easy Workflow Building</a:t>
          </a:r>
          <a:endParaRPr lang="en-US" sz="2000" kern="12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86306" y="101835"/>
        <a:ext cx="7133943" cy="1052131"/>
      </dsp:txXfrm>
    </dsp:sp>
    <dsp:sp modelId="{7C86B145-1C2E-46BD-BE62-C42C80C5A654}">
      <dsp:nvSpPr>
        <dsp:cNvPr id="0" name=""/>
        <dsp:cNvSpPr/>
      </dsp:nvSpPr>
      <dsp:spPr>
        <a:xfrm>
          <a:off x="622100" y="1198260"/>
          <a:ext cx="8330743" cy="1052131"/>
        </a:xfrm>
        <a:prstGeom prst="rect">
          <a:avLst/>
        </a:prstGeom>
        <a:solidFill>
          <a:srgbClr val="3F3DE3"/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0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Structured Fact-Checking</a:t>
          </a:r>
          <a:endParaRPr lang="en-US" sz="1600" kern="1200" dirty="0">
            <a:solidFill>
              <a:srgbClr val="3F3DE3">
                <a:lumMod val="20000"/>
                <a:lumOff val="8000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622100" y="1198260"/>
        <a:ext cx="7024756" cy="1052131"/>
      </dsp:txXfrm>
    </dsp:sp>
    <dsp:sp modelId="{862B5B41-53F5-454A-B8E6-70B721DC8B9A}">
      <dsp:nvSpPr>
        <dsp:cNvPr id="0" name=""/>
        <dsp:cNvSpPr/>
      </dsp:nvSpPr>
      <dsp:spPr>
        <a:xfrm>
          <a:off x="1244201" y="2396521"/>
          <a:ext cx="8330743" cy="1052131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0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Clear Routing Logic</a:t>
          </a:r>
          <a:endParaRPr lang="en-US" sz="1600" kern="12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1244201" y="2396521"/>
        <a:ext cx="7024756" cy="1052131"/>
      </dsp:txXfrm>
    </dsp:sp>
    <dsp:sp modelId="{D134E212-FDD1-424A-968F-869017AD5171}">
      <dsp:nvSpPr>
        <dsp:cNvPr id="0" name=""/>
        <dsp:cNvSpPr/>
      </dsp:nvSpPr>
      <dsp:spPr>
        <a:xfrm>
          <a:off x="1866302" y="3594782"/>
          <a:ext cx="8330743" cy="1052131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0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Full Traceability</a:t>
          </a:r>
          <a:endParaRPr lang="en-US" sz="1600" kern="1200" dirty="0">
            <a:solidFill>
              <a:srgbClr val="000000"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1866302" y="3594782"/>
        <a:ext cx="7024756" cy="1052131"/>
      </dsp:txXfrm>
    </dsp:sp>
    <dsp:sp modelId="{9CB462FF-72B3-4BFA-B916-65C5CB432162}">
      <dsp:nvSpPr>
        <dsp:cNvPr id="0" name=""/>
        <dsp:cNvSpPr/>
      </dsp:nvSpPr>
      <dsp:spPr>
        <a:xfrm>
          <a:off x="2488403" y="4793043"/>
          <a:ext cx="8330743" cy="1052131"/>
        </a:xfrm>
        <a:prstGeom prst="rect">
          <a:avLst/>
        </a:prstGeom>
        <a:solidFill>
          <a:srgbClr val="3F3DE3">
            <a:lumMod val="40000"/>
            <a:lumOff val="60000"/>
            <a:alpha val="5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0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Human-in-Loop </a:t>
          </a:r>
          <a:r>
            <a:rPr lang="en-US" sz="2400" kern="1200" dirty="0" smtClean="0">
              <a:solidFill>
                <a:srgbClr val="3F3DE3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Support</a:t>
          </a:r>
          <a:endParaRPr lang="en-US" sz="1600" kern="1200" dirty="0">
            <a:solidFill>
              <a:srgbClr val="3F3DE3">
                <a:lumMod val="60000"/>
                <a:lumOff val="40000"/>
                <a:alpha val="7000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2488403" y="4793043"/>
        <a:ext cx="7024756" cy="1052131"/>
      </dsp:txXfrm>
    </dsp:sp>
    <dsp:sp modelId="{0CB2EC4F-D832-4AE2-86CC-14F684CFA4E5}">
      <dsp:nvSpPr>
        <dsp:cNvPr id="0" name=""/>
        <dsp:cNvSpPr/>
      </dsp:nvSpPr>
      <dsp:spPr>
        <a:xfrm>
          <a:off x="7299341" y="768640"/>
          <a:ext cx="683885" cy="683885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7453215" y="768640"/>
        <a:ext cx="376137" cy="514623"/>
      </dsp:txXfrm>
    </dsp:sp>
    <dsp:sp modelId="{03DA9257-7161-48BA-BB8E-B2323EF3B158}">
      <dsp:nvSpPr>
        <dsp:cNvPr id="0" name=""/>
        <dsp:cNvSpPr/>
      </dsp:nvSpPr>
      <dsp:spPr>
        <a:xfrm>
          <a:off x="7921442" y="1966901"/>
          <a:ext cx="683885" cy="683885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8075316" y="1966901"/>
        <a:ext cx="376137" cy="514623"/>
      </dsp:txXfrm>
    </dsp:sp>
    <dsp:sp modelId="{6FEE3320-F765-411D-B4AD-9D1CFC5DEDDD}">
      <dsp:nvSpPr>
        <dsp:cNvPr id="0" name=""/>
        <dsp:cNvSpPr/>
      </dsp:nvSpPr>
      <dsp:spPr>
        <a:xfrm>
          <a:off x="8543543" y="3147626"/>
          <a:ext cx="683885" cy="683885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8697417" y="3147626"/>
        <a:ext cx="376137" cy="514623"/>
      </dsp:txXfrm>
    </dsp:sp>
    <dsp:sp modelId="{E32DC1E0-C267-4605-BE6F-5701FC898420}">
      <dsp:nvSpPr>
        <dsp:cNvPr id="0" name=""/>
        <dsp:cNvSpPr/>
      </dsp:nvSpPr>
      <dsp:spPr>
        <a:xfrm>
          <a:off x="9165644" y="4357577"/>
          <a:ext cx="683885" cy="683885"/>
        </a:xfrm>
        <a:prstGeom prst="downArrow">
          <a:avLst>
            <a:gd name="adj1" fmla="val 55000"/>
            <a:gd name="adj2" fmla="val 45000"/>
          </a:avLst>
        </a:prstGeom>
        <a:solidFill>
          <a:srgbClr val="3F3DE3">
            <a:lumMod val="40000"/>
            <a:lumOff val="60000"/>
          </a:srgb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 panose="020F0502020204030204"/>
            <a:ea typeface="+mn-ea"/>
            <a:cs typeface="+mn-cs"/>
          </a:endParaRPr>
        </a:p>
      </dsp:txBody>
      <dsp:txXfrm>
        <a:off x="9319518" y="4357577"/>
        <a:ext cx="376137" cy="514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9704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825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432"/>
            <a:ext cx="18288000" cy="69277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40F57-02B1-4B56-8BA7-24557BFCBB01}"/>
              </a:ext>
            </a:extLst>
          </p:cNvPr>
          <p:cNvSpPr/>
          <p:nvPr userDrawn="1"/>
        </p:nvSpPr>
        <p:spPr>
          <a:xfrm>
            <a:off x="0" y="6934200"/>
            <a:ext cx="18288000" cy="3346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7556582"/>
            <a:ext cx="14363702" cy="1336875"/>
          </a:xfrm>
        </p:spPr>
        <p:txBody>
          <a:bodyPr anchor="t">
            <a:noAutofit/>
          </a:bodyPr>
          <a:lstStyle>
            <a:lvl1pPr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7300" y="9188617"/>
            <a:ext cx="14363700" cy="507824"/>
          </a:xfrm>
        </p:spPr>
        <p:txBody>
          <a:bodyPr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3118706" y="7282717"/>
            <a:ext cx="0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965169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432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3003631"/>
            <a:ext cx="10878758" cy="1336875"/>
          </a:xfrm>
        </p:spPr>
        <p:txBody>
          <a:bodyPr anchor="t">
            <a:noAutofit/>
          </a:bodyPr>
          <a:lstStyle>
            <a:lvl1pPr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7300" y="4635667"/>
            <a:ext cx="10878756" cy="507824"/>
          </a:xfrm>
        </p:spPr>
        <p:txBody>
          <a:bodyPr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877745" y="2729768"/>
            <a:ext cx="2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281463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849" y="6432"/>
            <a:ext cx="1034415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1" y="2309150"/>
            <a:ext cx="13299311" cy="7977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Rectangle 7" title="Decorative"/>
          <p:cNvSpPr/>
          <p:nvPr userDrawn="1"/>
        </p:nvSpPr>
        <p:spPr>
          <a:xfrm>
            <a:off x="1" y="0"/>
            <a:ext cx="7943849" cy="10287000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035" y="3060781"/>
            <a:ext cx="6180666" cy="2727983"/>
          </a:xfrm>
        </p:spPr>
        <p:txBody>
          <a:bodyPr anchor="b">
            <a:noAutofit/>
          </a:bodyPr>
          <a:lstStyle>
            <a:lvl1pPr algn="l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036" y="6047488"/>
            <a:ext cx="6180665" cy="507824"/>
          </a:xfrm>
        </p:spPr>
        <p:txBody>
          <a:bodyPr>
            <a:normAutofit/>
          </a:bodyPr>
          <a:lstStyle>
            <a:lvl1pPr marL="0" indent="0" algn="l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839638" y="4147161"/>
            <a:ext cx="0" cy="3283209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384157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8135" y="4358303"/>
            <a:ext cx="6180666" cy="1336875"/>
          </a:xfrm>
        </p:spPr>
        <p:txBody>
          <a:bodyPr anchor="t">
            <a:noAutofit/>
          </a:bodyPr>
          <a:lstStyle>
            <a:lvl1pPr algn="ct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08136" y="5990338"/>
            <a:ext cx="6180665" cy="507824"/>
          </a:xfrm>
        </p:spPr>
        <p:txBody>
          <a:bodyPr>
            <a:normAutofit/>
          </a:bodyPr>
          <a:lstStyle>
            <a:lvl1pPr marL="0" indent="0" algn="ctr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898466" y="4090013"/>
            <a:ext cx="2" cy="3283208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5808134" y="1291168"/>
            <a:ext cx="6180666" cy="7704668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83205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099" y="4661171"/>
            <a:ext cx="10878758" cy="1336875"/>
          </a:xfrm>
        </p:spPr>
        <p:txBody>
          <a:bodyPr anchor="t">
            <a:noAutofit/>
          </a:bodyPr>
          <a:lstStyle>
            <a:lvl1pPr algn="ct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8100" y="6293206"/>
            <a:ext cx="10878756" cy="507824"/>
          </a:xfrm>
        </p:spPr>
        <p:txBody>
          <a:bodyPr>
            <a:normAutofit/>
          </a:bodyPr>
          <a:lstStyle>
            <a:lvl1pPr marL="0" indent="0" algn="ctr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4387306"/>
            <a:ext cx="0" cy="3283208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857156" y="1291168"/>
            <a:ext cx="14573688" cy="7704668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107719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with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099" y="4661171"/>
            <a:ext cx="10878758" cy="1336875"/>
          </a:xfrm>
        </p:spPr>
        <p:txBody>
          <a:bodyPr anchor="t">
            <a:noAutofit/>
          </a:bodyPr>
          <a:lstStyle>
            <a:lvl1pPr algn="ct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8100" y="6293206"/>
            <a:ext cx="10878756" cy="507824"/>
          </a:xfrm>
        </p:spPr>
        <p:txBody>
          <a:bodyPr>
            <a:normAutofit/>
          </a:bodyPr>
          <a:lstStyle>
            <a:lvl1pPr marL="0" indent="0" algn="ctr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4387306"/>
            <a:ext cx="0" cy="3283208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857156" y="1291168"/>
            <a:ext cx="14573688" cy="7704668"/>
          </a:xfrm>
          <a:prstGeom prst="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4110636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099" y="4661171"/>
            <a:ext cx="10878758" cy="1336875"/>
          </a:xfrm>
        </p:spPr>
        <p:txBody>
          <a:bodyPr anchor="t">
            <a:noAutofit/>
          </a:bodyPr>
          <a:lstStyle>
            <a:lvl1pPr algn="ct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8100" y="6293206"/>
            <a:ext cx="10878756" cy="507824"/>
          </a:xfrm>
        </p:spPr>
        <p:txBody>
          <a:bodyPr>
            <a:normAutofit/>
          </a:bodyPr>
          <a:lstStyle>
            <a:lvl1pPr marL="0" indent="0" algn="ctr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4387306"/>
            <a:ext cx="0" cy="3283208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857156" y="1291168"/>
            <a:ext cx="14573688" cy="7704668"/>
          </a:xfrm>
          <a:prstGeom prst="rect">
            <a:avLst/>
          </a:prstGeom>
          <a:noFill/>
          <a:ln w="76200"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777981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5509769"/>
            <a:ext cx="10239513" cy="3283208"/>
          </a:xfrm>
        </p:spPr>
        <p:txBody>
          <a:bodyPr rIns="457200" anchor="ctr">
            <a:noAutofit/>
          </a:bodyPr>
          <a:lstStyle>
            <a:lvl1pPr algn="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 title="Decorative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6813" y="5497806"/>
            <a:ext cx="6791187" cy="3295170"/>
          </a:xfrm>
          <a:solidFill>
            <a:schemeClr val="accent1"/>
          </a:solidFill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11496812" y="5509769"/>
            <a:ext cx="2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542271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5509769"/>
            <a:ext cx="10239513" cy="3283208"/>
          </a:xfrm>
        </p:spPr>
        <p:txBody>
          <a:bodyPr rIns="457200" anchor="ctr">
            <a:noAutofit/>
          </a:bodyPr>
          <a:lstStyle>
            <a:lvl1pPr algn="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 title="Decorative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6813" y="5497806"/>
            <a:ext cx="6791187" cy="3295170"/>
          </a:xfrm>
          <a:solidFill>
            <a:schemeClr val="accent2"/>
          </a:solidFill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11496812" y="5509769"/>
            <a:ext cx="2" cy="3283208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864298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7154568" y="4707925"/>
            <a:ext cx="11133432" cy="48191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1620" y="6456311"/>
            <a:ext cx="9658734" cy="1336875"/>
          </a:xfrm>
        </p:spPr>
        <p:txBody>
          <a:bodyPr anchor="t">
            <a:noAutofit/>
          </a:bodyPr>
          <a:lstStyle>
            <a:lvl1pPr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71620" y="8257681"/>
            <a:ext cx="9658733" cy="507824"/>
          </a:xfrm>
        </p:spPr>
        <p:txBody>
          <a:bodyPr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313223" y="6340421"/>
            <a:ext cx="2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903881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82880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0" y="6581543"/>
            <a:ext cx="18288000" cy="329517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232" y="6593506"/>
            <a:ext cx="10239513" cy="3283208"/>
          </a:xfrm>
        </p:spPr>
        <p:txBody>
          <a:bodyPr rIns="457200" anchor="ctr">
            <a:noAutofit/>
          </a:bodyPr>
          <a:lstStyle>
            <a:lvl1pPr algn="r">
              <a:defRPr sz="7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05746" y="6581543"/>
            <a:ext cx="6791187" cy="3295170"/>
          </a:xfrm>
          <a:noFill/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2400" spc="4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11005745" y="7113870"/>
            <a:ext cx="2" cy="2242476"/>
          </a:xfrm>
          <a:prstGeom prst="line">
            <a:avLst/>
          </a:prstGeom>
          <a:ln w="76200">
            <a:solidFill>
              <a:schemeClr val="bg1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55949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9940" y="5591042"/>
            <a:ext cx="3413084" cy="1538288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75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51620" y="1219200"/>
            <a:ext cx="5336381" cy="78486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2970" y="1319565"/>
            <a:ext cx="6441309" cy="113347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970" y="2934233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2970" y="4548900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2970" y="6163568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2970" y="7778235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2687673" y="5849310"/>
            <a:ext cx="0" cy="2895465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1122659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867" y="3337560"/>
            <a:ext cx="6804119" cy="694944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81547" y="3083003"/>
            <a:ext cx="6441309" cy="1133475"/>
          </a:xfrm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81547" y="4173674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1547" y="6528641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547" y="5351157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81547" y="7706123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530078" y="1"/>
            <a:ext cx="6858770" cy="30889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2340383" y="667710"/>
            <a:ext cx="0" cy="2895465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2651" y="288578"/>
            <a:ext cx="3413084" cy="1538288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75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32246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16" y="0"/>
            <a:ext cx="8890686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294" y="3523104"/>
            <a:ext cx="6441309" cy="1133475"/>
          </a:xfrm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294" y="4613775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294" y="6968742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294" y="5791259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294" y="8146224"/>
            <a:ext cx="6441309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530078" y="1"/>
            <a:ext cx="6858770" cy="3088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2340383" y="667710"/>
            <a:ext cx="0" cy="289546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2651" y="288578"/>
            <a:ext cx="3413084" cy="1538288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75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694054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7365999" cy="10287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Rectangle 2" title="Decorative"/>
          <p:cNvSpPr/>
          <p:nvPr userDrawn="1"/>
        </p:nvSpPr>
        <p:spPr>
          <a:xfrm>
            <a:off x="7366001" y="0"/>
            <a:ext cx="176106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42697" y="1319565"/>
            <a:ext cx="7202771" cy="113347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42697" y="2934233"/>
            <a:ext cx="7202771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42697" y="4548900"/>
            <a:ext cx="7202771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42697" y="6163568"/>
            <a:ext cx="7202771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42697" y="7778235"/>
            <a:ext cx="7202771" cy="1133475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6111" y="1319565"/>
            <a:ext cx="1111623" cy="1133475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9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6111" y="2934233"/>
            <a:ext cx="1111623" cy="1133475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9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6111" y="4548900"/>
            <a:ext cx="1111623" cy="1133475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9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26111" y="6163568"/>
            <a:ext cx="1111623" cy="1133475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9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6111" y="7778235"/>
            <a:ext cx="1111623" cy="1133475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9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9940" y="5591042"/>
            <a:ext cx="3413084" cy="1538288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75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022352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32" y="3895375"/>
            <a:ext cx="6578762" cy="1988345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2"/>
            <a:ext cx="9144000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4030" y="6942198"/>
            <a:ext cx="6578762" cy="198834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4030" y="6247714"/>
            <a:ext cx="6578762" cy="574124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flipV="1">
            <a:off x="791141" y="2447641"/>
            <a:ext cx="0" cy="6482900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  <p:sp>
        <p:nvSpPr>
          <p:cNvPr id="9" name="Picture Placeholder 5" title="Decorative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54032" y="2447641"/>
            <a:ext cx="1207139" cy="120713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842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4212119"/>
            <a:ext cx="9144000" cy="607488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857198"/>
            <a:ext cx="7886702" cy="1988345"/>
          </a:xfrm>
        </p:spPr>
        <p:txBody>
          <a:bodyPr anchor="b">
            <a:normAutofit/>
          </a:bodyPr>
          <a:lstStyle>
            <a:lvl1pPr algn="r">
              <a:defRPr sz="60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81738" y="4212119"/>
            <a:ext cx="6468530" cy="574124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2400" b="1" dirty="0"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81738" y="4818545"/>
            <a:ext cx="6468530" cy="4443989"/>
          </a:xfrm>
        </p:spPr>
        <p:txBody>
          <a:bodyPr lIns="0" tIns="72000">
            <a:normAutofit/>
          </a:bodyPr>
          <a:lstStyle>
            <a:lvl1pPr>
              <a:defRPr sz="21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50">
                <a:latin typeface="+mn-lt"/>
              </a:defRPr>
            </a:lvl3pPr>
            <a:lvl4pPr>
              <a:defRPr sz="1575">
                <a:latin typeface="+mn-lt"/>
              </a:defRPr>
            </a:lvl4pPr>
            <a:lvl5pPr>
              <a:defRPr sz="1575">
                <a:latin typeface="+mn-lt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7696269" y="1884794"/>
            <a:ext cx="0" cy="2895465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569152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E5DCEB-1CC8-4AEE-9DEC-6C62AD4FB42C}"/>
              </a:ext>
            </a:extLst>
          </p:cNvPr>
          <p:cNvSpPr/>
          <p:nvPr userDrawn="1"/>
        </p:nvSpPr>
        <p:spPr>
          <a:xfrm>
            <a:off x="1" y="514350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3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9144000" cy="51435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738" y="1786364"/>
            <a:ext cx="6831012" cy="1988345"/>
          </a:xfrm>
        </p:spPr>
        <p:txBody>
          <a:bodyPr lIns="0" anchor="b">
            <a:normAutofit/>
          </a:bodyPr>
          <a:lstStyle>
            <a:lvl1pPr algn="l">
              <a:defRPr sz="60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95880" y="3774208"/>
            <a:ext cx="6816870" cy="574124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2400" b="1" dirty="0"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95880" y="4380633"/>
            <a:ext cx="6816870" cy="4839567"/>
          </a:xfrm>
        </p:spPr>
        <p:txBody>
          <a:bodyPr lIns="0" tIns="72000"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57299" y="5410200"/>
            <a:ext cx="7391402" cy="3810000"/>
          </a:xfrm>
        </p:spPr>
        <p:txBody>
          <a:bodyPr lIns="0" tIns="72000"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000">
                <a:solidFill>
                  <a:schemeClr val="bg1"/>
                </a:solidFill>
              </a:defRPr>
            </a:lvl3pPr>
            <a:lvl4pPr>
              <a:defRPr sz="2700">
                <a:solidFill>
                  <a:schemeClr val="bg1"/>
                </a:solidFill>
              </a:defRPr>
            </a:lvl4pPr>
            <a:lvl5pPr>
              <a:defRPr sz="2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44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5626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Rectangle 10" title="Decorative"/>
          <p:cNvSpPr/>
          <p:nvPr userDrawn="1"/>
        </p:nvSpPr>
        <p:spPr>
          <a:xfrm>
            <a:off x="5562600" y="0"/>
            <a:ext cx="71628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382" y="1405471"/>
            <a:ext cx="5529239" cy="2199083"/>
          </a:xfrm>
        </p:spPr>
        <p:txBody>
          <a:bodyPr lIns="0" anchor="t">
            <a:norm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9483" y="3610984"/>
            <a:ext cx="5529038" cy="574124"/>
          </a:xfrm>
        </p:spPr>
        <p:txBody>
          <a:bodyPr lIns="0" anchor="b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9382" y="4217410"/>
            <a:ext cx="5529239" cy="4567238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725400" y="0"/>
            <a:ext cx="5562600" cy="10280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83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title="Decorative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272771" y="0"/>
            <a:ext cx="601523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6257542" y="0"/>
            <a:ext cx="601523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0636" y="2520821"/>
            <a:ext cx="5529038" cy="574124"/>
          </a:xfrm>
        </p:spPr>
        <p:txBody>
          <a:bodyPr lIns="0" anchor="b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62842" y="2520821"/>
            <a:ext cx="5487015" cy="574124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2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342900" lvl="0" indent="-3429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00182" y="3127247"/>
            <a:ext cx="5529239" cy="4567238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562842" y="3127247"/>
            <a:ext cx="5487015" cy="4567238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16" y="2505011"/>
            <a:ext cx="5529239" cy="2199083"/>
          </a:xfrm>
        </p:spPr>
        <p:txBody>
          <a:bodyPr lIns="0" anchor="t">
            <a:normAutofit/>
          </a:bodyPr>
          <a:lstStyle>
            <a:lvl1pPr algn="l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867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8288000" cy="511333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5113337"/>
            <a:ext cx="18305363" cy="5173664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68580" rIns="486000" bIns="6858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sz="6000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3125" y="5499532"/>
            <a:ext cx="5173200" cy="574124"/>
          </a:xfrm>
        </p:spPr>
        <p:txBody>
          <a:bodyPr lIns="0" anchor="b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1083" y="5499532"/>
            <a:ext cx="5175398" cy="574124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2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342900" lvl="0" indent="-3429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2671" y="6105959"/>
            <a:ext cx="5173200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381083" y="6105959"/>
            <a:ext cx="5175398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6073656"/>
            <a:ext cx="4705350" cy="3253023"/>
          </a:xfrm>
        </p:spPr>
        <p:txBody>
          <a:bodyPr lIns="0" anchor="ctr">
            <a:norm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919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540212"/>
            <a:ext cx="9144002" cy="6746789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68580" rIns="486000" bIns="6858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sz="6000" dirty="0"/>
          </a:p>
        </p:txBody>
      </p:sp>
      <p:sp>
        <p:nvSpPr>
          <p:cNvPr id="12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9143999" y="3540212"/>
            <a:ext cx="9144002" cy="67467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0" tIns="68580" rIns="486000" bIns="6858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sz="6000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6411" y="4443025"/>
            <a:ext cx="6511178" cy="574124"/>
          </a:xfrm>
        </p:spPr>
        <p:txBody>
          <a:bodyPr lIns="0" anchor="b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59028" y="4443025"/>
            <a:ext cx="6513944" cy="574124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2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342900" lvl="0" indent="-3429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6411" y="5049452"/>
            <a:ext cx="6511178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59028" y="5049452"/>
            <a:ext cx="6513944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323" y="537915"/>
            <a:ext cx="10703355" cy="1233360"/>
          </a:xfrm>
        </p:spPr>
        <p:txBody>
          <a:bodyPr lIns="0" anchor="t">
            <a:normAutofit/>
          </a:bodyPr>
          <a:lstStyle>
            <a:lvl1pPr algn="ctr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333875"/>
            <a:ext cx="0" cy="3283208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7430316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540212"/>
            <a:ext cx="9144002" cy="674678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68580" rIns="486000" bIns="6858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sz="6000" dirty="0"/>
          </a:p>
        </p:txBody>
      </p:sp>
      <p:sp>
        <p:nvSpPr>
          <p:cNvPr id="12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9143999" y="3540212"/>
            <a:ext cx="9144002" cy="6746789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</p:spPr>
        <p:txBody>
          <a:bodyPr vert="horz" lIns="0" tIns="68580" rIns="486000" bIns="6858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sz="6000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6411" y="4443025"/>
            <a:ext cx="6511178" cy="574124"/>
          </a:xfrm>
        </p:spPr>
        <p:txBody>
          <a:bodyPr lIns="0" anchor="b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59028" y="4443025"/>
            <a:ext cx="6513944" cy="574124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2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342900" lvl="0" indent="-3429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6411" y="5049452"/>
            <a:ext cx="6511178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59028" y="5049452"/>
            <a:ext cx="6513944" cy="3380942"/>
          </a:xfrm>
        </p:spPr>
        <p:txBody>
          <a:bodyPr lIns="0" tIns="7200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50">
                <a:solidFill>
                  <a:schemeClr val="bg1"/>
                </a:solidFill>
              </a:defRPr>
            </a:lvl3pPr>
            <a:lvl4pPr>
              <a:defRPr sz="1575">
                <a:solidFill>
                  <a:schemeClr val="bg1"/>
                </a:solidFill>
              </a:defRPr>
            </a:lvl4pPr>
            <a:lvl5pPr>
              <a:defRPr sz="15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323" y="537915"/>
            <a:ext cx="10703355" cy="1233360"/>
          </a:xfrm>
        </p:spPr>
        <p:txBody>
          <a:bodyPr lIns="0" anchor="t">
            <a:normAutofit/>
          </a:bodyPr>
          <a:lstStyle>
            <a:lvl1pPr algn="ctr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333875"/>
            <a:ext cx="0" cy="3283208"/>
          </a:xfrm>
          <a:prstGeom prst="line">
            <a:avLst/>
          </a:prstGeom>
          <a:ln w="76200">
            <a:solidFill>
              <a:schemeClr val="accent2">
                <a:lumMod val="50000"/>
                <a:lumOff val="5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562667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23" y="1790648"/>
            <a:ext cx="6578762" cy="1988345"/>
          </a:xfrm>
        </p:spPr>
        <p:txBody>
          <a:bodyPr anchor="b">
            <a:normAutofit/>
          </a:bodyPr>
          <a:lstStyle>
            <a:lvl1pPr algn="r">
              <a:defRPr sz="60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8222" y="3948506"/>
            <a:ext cx="6578762" cy="5036345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73024" y="2397929"/>
            <a:ext cx="7304709" cy="2844653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73024" y="1791442"/>
            <a:ext cx="7304709" cy="574124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73027" y="6140197"/>
            <a:ext cx="7304709" cy="2844653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73026" y="5533709"/>
            <a:ext cx="7249191" cy="574124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flipV="1">
            <a:off x="1245761" y="1791441"/>
            <a:ext cx="0" cy="7193409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18661497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92987" y="1254407"/>
            <a:ext cx="6395013" cy="7778187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ext Placeholder 6" title="Decorative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396" y="1254407"/>
            <a:ext cx="6393600" cy="7778187"/>
          </a:xfrm>
          <a:solidFill>
            <a:schemeClr val="accent1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550" y="2489656"/>
            <a:ext cx="3837008" cy="1988345"/>
          </a:xfrm>
        </p:spPr>
        <p:txBody>
          <a:bodyPr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634759" y="2872831"/>
            <a:ext cx="0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183827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 title="Decorative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809279"/>
            <a:ext cx="18288000" cy="5477720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7080" y="2663281"/>
            <a:ext cx="9653286" cy="1988345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7755" y="2"/>
            <a:ext cx="5285135" cy="48092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57755" y="5037881"/>
            <a:ext cx="5285135" cy="48092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218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299" y="6879685"/>
            <a:ext cx="15523635" cy="2365922"/>
          </a:xfrm>
          <a:noFill/>
          <a:ln>
            <a:noFill/>
          </a:ln>
        </p:spPr>
        <p:txBody>
          <a:bodyPr lIns="0" tIns="21600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5575819"/>
            <a:ext cx="15523634" cy="1282187"/>
          </a:xfrm>
        </p:spPr>
        <p:txBody>
          <a:bodyPr lIns="0" rIns="0"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7301" y="1254407"/>
            <a:ext cx="15523634" cy="377479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146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0" y="0"/>
            <a:ext cx="7118430" cy="5143485"/>
          </a:xfrm>
          <a:prstGeom prst="rect">
            <a:avLst/>
          </a:prstGeom>
          <a:solidFill>
            <a:schemeClr val="accent2"/>
          </a:solidFill>
        </p:spPr>
        <p:txBody>
          <a:bodyPr vert="horz" lIns="378000" tIns="216000" rIns="216000" bIns="6858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None/>
            </a:pPr>
            <a:endParaRPr lang="en-US" sz="2100" b="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18430" y="5143485"/>
            <a:ext cx="11169570" cy="5143514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2489656"/>
            <a:ext cx="4628427" cy="1988345"/>
          </a:xfrm>
        </p:spPr>
        <p:txBody>
          <a:bodyPr lIns="0" anchor="t"/>
          <a:lstStyle>
            <a:lvl1pPr algn="l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8617" y="1795910"/>
            <a:ext cx="9182583" cy="574124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38617" y="2382233"/>
            <a:ext cx="9182583" cy="2095767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57300" y="5605639"/>
            <a:ext cx="4628427" cy="3995561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65605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3753" y="7460279"/>
            <a:ext cx="10949427" cy="2160000"/>
          </a:xfrm>
          <a:solidFill>
            <a:schemeClr val="accent1"/>
          </a:solidFill>
        </p:spPr>
        <p:txBody>
          <a:bodyPr lIns="21600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7697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8113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31211" y="5497806"/>
            <a:ext cx="10956789" cy="3295170"/>
          </a:xfrm>
          <a:solidFill>
            <a:schemeClr val="accent1"/>
          </a:solidFill>
        </p:spPr>
        <p:txBody>
          <a:bodyPr lIns="274320" tIns="182880" rIns="182880" bIns="182880" anchor="ctr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spc="-225" dirty="0">
                <a:solidFill>
                  <a:schemeClr val="bg1"/>
                </a:solidFill>
                <a:latin typeface="+mj-lt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7331210" y="5497807"/>
            <a:ext cx="2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6043363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31211" y="5497806"/>
            <a:ext cx="10956789" cy="3295170"/>
          </a:xfrm>
          <a:solidFill>
            <a:schemeClr val="accent2"/>
          </a:solidFill>
        </p:spPr>
        <p:txBody>
          <a:bodyPr lIns="274320" tIns="182880" rIns="182880" bIns="182880" anchor="ctr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spc="-225" dirty="0">
                <a:solidFill>
                  <a:schemeClr val="bg1"/>
                </a:solidFill>
                <a:latin typeface="+mj-lt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7331210" y="5497807"/>
            <a:ext cx="2" cy="3283208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252793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8288000" cy="8246963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532603"/>
            <a:ext cx="13075920" cy="1234605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664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0020"/>
            <a:ext cx="18288000" cy="8246963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090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8288000" cy="8246963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532603"/>
            <a:ext cx="13075920" cy="1234605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18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0020"/>
            <a:ext cx="18288000" cy="8246963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1424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8288000" cy="1028699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7103806"/>
            <a:ext cx="18288000" cy="225064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94" y="7611825"/>
            <a:ext cx="13075920" cy="1234605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33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8288000" cy="1028699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Rectangle 4" title="Decorative"/>
          <p:cNvSpPr/>
          <p:nvPr userDrawn="1"/>
        </p:nvSpPr>
        <p:spPr>
          <a:xfrm>
            <a:off x="0" y="7103806"/>
            <a:ext cx="18288000" cy="2250647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94" y="7611825"/>
            <a:ext cx="13075920" cy="1234605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40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8288000" cy="1028699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Rectangle 4" title="Decorative"/>
          <p:cNvSpPr/>
          <p:nvPr userDrawn="1"/>
        </p:nvSpPr>
        <p:spPr>
          <a:xfrm>
            <a:off x="0" y="7103806"/>
            <a:ext cx="18288000" cy="225064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94" y="7611825"/>
            <a:ext cx="13075920" cy="1234605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319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120843" y="629741"/>
            <a:ext cx="11909856" cy="9027519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800"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sz="270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553540"/>
            <a:ext cx="3733800" cy="46863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45000">
                <a:solidFill>
                  <a:schemeClr val="accent2">
                    <a:lumMod val="75000"/>
                    <a:lumOff val="2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363" y="6750841"/>
            <a:ext cx="9805038" cy="1988345"/>
          </a:xfrm>
        </p:spPr>
        <p:txBody>
          <a:bodyPr>
            <a:normAutofit/>
          </a:bodyPr>
          <a:lstStyle>
            <a:lvl1pPr>
              <a:defRPr sz="9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2704774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120843" y="629741"/>
            <a:ext cx="11909856" cy="9027519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800"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sz="270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553540"/>
            <a:ext cx="3733800" cy="46863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45000">
                <a:solidFill>
                  <a:schemeClr val="accent1">
                    <a:lumMod val="60000"/>
                    <a:lumOff val="40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363" y="6750841"/>
            <a:ext cx="9805038" cy="1988345"/>
          </a:xfrm>
        </p:spPr>
        <p:txBody>
          <a:bodyPr>
            <a:normAutofit/>
          </a:bodyPr>
          <a:lstStyle>
            <a:lvl1pPr>
              <a:defRPr sz="9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22476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120843" y="629741"/>
            <a:ext cx="11909856" cy="9027519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800"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sz="270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553540"/>
            <a:ext cx="3733800" cy="46863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45000">
                <a:solidFill>
                  <a:schemeClr val="accent4">
                    <a:lumMod val="40000"/>
                    <a:lumOff val="60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363" y="6750841"/>
            <a:ext cx="9805038" cy="1988345"/>
          </a:xfrm>
        </p:spPr>
        <p:txBody>
          <a:bodyPr>
            <a:normAutofit/>
          </a:bodyPr>
          <a:lstStyle>
            <a:lvl1pPr>
              <a:defRPr sz="9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83432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2108200"/>
            <a:ext cx="18288000" cy="54864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2859089"/>
            <a:ext cx="11823701" cy="2541270"/>
          </a:xfrm>
        </p:spPr>
        <p:txBody>
          <a:bodyPr lIns="0" anchor="t">
            <a:noAutofit/>
          </a:bodyPr>
          <a:lstStyle>
            <a:lvl1pPr>
              <a:defRPr sz="99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5542" y="6831671"/>
            <a:ext cx="3733800" cy="4686297"/>
          </a:xfrm>
          <a:solidFill>
            <a:schemeClr val="accent2">
              <a:lumMod val="75000"/>
              <a:lumOff val="25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375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4783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2108200"/>
            <a:ext cx="18288000" cy="54864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2859089"/>
            <a:ext cx="11823701" cy="2541270"/>
          </a:xfrm>
        </p:spPr>
        <p:txBody>
          <a:bodyPr lIns="0" anchor="t">
            <a:noAutofit/>
          </a:bodyPr>
          <a:lstStyle>
            <a:lvl1pPr>
              <a:defRPr sz="99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5542" y="6831671"/>
            <a:ext cx="3733800" cy="4686297"/>
          </a:xfrm>
          <a:solidFill>
            <a:schemeClr val="accent1">
              <a:lumMod val="60000"/>
              <a:lumOff val="40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375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20136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2108200"/>
            <a:ext cx="18288000" cy="54864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299" y="2859089"/>
            <a:ext cx="11823701" cy="2541270"/>
          </a:xfrm>
        </p:spPr>
        <p:txBody>
          <a:bodyPr lIns="0" anchor="t">
            <a:noAutofit/>
          </a:bodyPr>
          <a:lstStyle>
            <a:lvl1pPr>
              <a:defRPr sz="99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5542" y="6831671"/>
            <a:ext cx="3733800" cy="4686297"/>
          </a:xfrm>
          <a:solidFill>
            <a:schemeClr val="accent4">
              <a:lumMod val="40000"/>
              <a:lumOff val="60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375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02026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0541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1"/>
            <a:ext cx="9086850" cy="10286993"/>
          </a:xfrm>
          <a:prstGeom prst="rect">
            <a:avLst/>
          </a:prstGeom>
          <a:solidFill>
            <a:schemeClr val="accent2"/>
          </a:solidFill>
        </p:spPr>
        <p:txBody>
          <a:bodyPr vert="horz" lIns="1944000" tIns="68580" rIns="648000" bIns="6858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500"/>
              </a:spcBef>
              <a:buFontTx/>
              <a:buNone/>
            </a:pPr>
            <a:endParaRPr lang="en-US" sz="21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77485" y="1612214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577485" y="3548306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77485" y="5484398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577485" y="7420491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5" name="Picture Placeholder 5" title="Decorative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24876" y="1503220"/>
            <a:ext cx="1327853" cy="1327853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5" title="Decorative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24876" y="3437258"/>
            <a:ext cx="1327853" cy="1327853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5" title="Decorative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24876" y="5371297"/>
            <a:ext cx="1327853" cy="1327853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5" title="Decorative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4876" y="7305335"/>
            <a:ext cx="1327853" cy="1327853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1586" y="1650435"/>
            <a:ext cx="6012656" cy="2092812"/>
          </a:xfrm>
        </p:spPr>
        <p:txBody>
          <a:bodyPr lIns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1588" y="3841739"/>
            <a:ext cx="6012656" cy="904331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bg1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5247992"/>
            <a:ext cx="6012657" cy="384134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877744" y="3186965"/>
            <a:ext cx="0" cy="3283209"/>
          </a:xfrm>
          <a:prstGeom prst="line">
            <a:avLst/>
          </a:prstGeom>
          <a:ln w="76200">
            <a:solidFill>
              <a:schemeClr val="accent2">
                <a:lumMod val="50000"/>
                <a:lumOff val="5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950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77485" y="1588470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577485" y="3548306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77485" y="5484398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577485" y="7420491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1586" y="1650435"/>
            <a:ext cx="6012656" cy="2092812"/>
          </a:xfrm>
        </p:spPr>
        <p:txBody>
          <a:bodyPr lIns="0" anchor="b"/>
          <a:lstStyle>
            <a:lvl1pPr>
              <a:defRPr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1588" y="3841739"/>
            <a:ext cx="6012656" cy="904331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5247992"/>
            <a:ext cx="6012657" cy="384134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877744" y="3186965"/>
            <a:ext cx="0" cy="3283209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5B409A-28A1-4F13-9C1C-E15291930DF1}"/>
              </a:ext>
            </a:extLst>
          </p:cNvPr>
          <p:cNvSpPr/>
          <p:nvPr userDrawn="1"/>
        </p:nvSpPr>
        <p:spPr>
          <a:xfrm>
            <a:off x="10082507" y="1571185"/>
            <a:ext cx="1132115" cy="11321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A9508C-D302-4643-AFFA-37BE20A4CF91}"/>
              </a:ext>
            </a:extLst>
          </p:cNvPr>
          <p:cNvSpPr/>
          <p:nvPr userDrawn="1"/>
        </p:nvSpPr>
        <p:spPr>
          <a:xfrm>
            <a:off x="10082507" y="3513732"/>
            <a:ext cx="1132115" cy="11321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430BF1-F654-4C13-9094-97AE78B80696}"/>
              </a:ext>
            </a:extLst>
          </p:cNvPr>
          <p:cNvSpPr/>
          <p:nvPr userDrawn="1"/>
        </p:nvSpPr>
        <p:spPr>
          <a:xfrm>
            <a:off x="10082507" y="5467111"/>
            <a:ext cx="1132115" cy="11321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F3E6A2-CCB8-4870-9797-40002216D2B3}"/>
              </a:ext>
            </a:extLst>
          </p:cNvPr>
          <p:cNvSpPr/>
          <p:nvPr userDrawn="1"/>
        </p:nvSpPr>
        <p:spPr>
          <a:xfrm>
            <a:off x="10082507" y="7403204"/>
            <a:ext cx="1132115" cy="11321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725AD6-E3CC-4FAC-94F3-1F4CB56D222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11617" y="1800295"/>
            <a:ext cx="673893" cy="6738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C80D4B49-1275-4A83-A987-EC233FB6CC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311617" y="3760129"/>
            <a:ext cx="673893" cy="6738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7B475AE2-C1A9-4191-A31B-5D6893397E2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311617" y="5696219"/>
            <a:ext cx="673893" cy="6738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29F28E2-C28B-447C-818F-8676A82EEAA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311617" y="7632313"/>
            <a:ext cx="673893" cy="6738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138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5582209"/>
            <a:ext cx="18288000" cy="4704785"/>
          </a:xfrm>
          <a:prstGeom prst="rect">
            <a:avLst/>
          </a:prstGeom>
          <a:solidFill>
            <a:schemeClr val="accent2"/>
          </a:solidFill>
        </p:spPr>
        <p:txBody>
          <a:bodyPr vert="horz" lIns="1944000" tIns="68580" rIns="648000" bIns="6858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500"/>
              </a:spcBef>
              <a:buFontTx/>
              <a:buNone/>
            </a:pPr>
            <a:endParaRPr lang="en-US" sz="21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815" y="537916"/>
            <a:ext cx="16282371" cy="1207139"/>
          </a:xfrm>
        </p:spPr>
        <p:txBody>
          <a:bodyPr lIns="0" anchor="b">
            <a:normAutofit/>
          </a:bodyPr>
          <a:lstStyle>
            <a:lvl1pPr algn="ctr">
              <a:defRPr sz="6000"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68205" y="3889066"/>
            <a:ext cx="1460639" cy="146063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Picture Placeholder 5" title="Decorative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9163" y="3889066"/>
            <a:ext cx="1460639" cy="146063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Picture Placeholder 5" title="Decorative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610120" y="3889066"/>
            <a:ext cx="1460639" cy="146063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4" name="Picture Placeholder 5" title="Decorative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81078" y="3889066"/>
            <a:ext cx="1460639" cy="146063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6170" y="5881214"/>
            <a:ext cx="3704709" cy="109754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5238" y="5885628"/>
            <a:ext cx="3704709" cy="109754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84305" y="5881214"/>
            <a:ext cx="3704709" cy="109754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753374" y="5874939"/>
            <a:ext cx="3704709" cy="109754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2816" y="2234552"/>
            <a:ext cx="16282371" cy="812225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210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333875"/>
            <a:ext cx="0" cy="3283208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</p:spTree>
    <p:extLst>
      <p:ext uri="{BB962C8B-B14F-4D97-AF65-F5344CB8AC3E}">
        <p14:creationId xmlns:p14="http://schemas.microsoft.com/office/powerpoint/2010/main" val="2306009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6170" y="6902294"/>
            <a:ext cx="3704709" cy="234323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5238" y="6906708"/>
            <a:ext cx="3704709" cy="234323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84305" y="6902294"/>
            <a:ext cx="3704709" cy="234323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753374" y="6896019"/>
            <a:ext cx="3704709" cy="2343231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815" y="537916"/>
            <a:ext cx="16282371" cy="1207139"/>
          </a:xfrm>
        </p:spPr>
        <p:txBody>
          <a:bodyPr lIns="0" anchor="b">
            <a:normAutofit/>
          </a:bodyPr>
          <a:lstStyle>
            <a:lvl1pPr algn="ctr">
              <a:defRPr sz="6000"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2816" y="2234552"/>
            <a:ext cx="16282371" cy="1097537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210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7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333875"/>
            <a:ext cx="0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7457D0-C252-49A3-9635-C29B38A49BDC}"/>
              </a:ext>
            </a:extLst>
          </p:cNvPr>
          <p:cNvSpPr/>
          <p:nvPr userDrawn="1"/>
        </p:nvSpPr>
        <p:spPr>
          <a:xfrm>
            <a:off x="1769438" y="4571484"/>
            <a:ext cx="2058174" cy="205817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6715FF-568E-4151-A75B-79EC2EC52AED}"/>
              </a:ext>
            </a:extLst>
          </p:cNvPr>
          <p:cNvSpPr/>
          <p:nvPr userDrawn="1"/>
        </p:nvSpPr>
        <p:spPr>
          <a:xfrm>
            <a:off x="6038505" y="4571484"/>
            <a:ext cx="2058174" cy="205817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41CAAB-44C4-48D7-80E1-3BF0D8006A5A}"/>
              </a:ext>
            </a:extLst>
          </p:cNvPr>
          <p:cNvSpPr/>
          <p:nvPr userDrawn="1"/>
        </p:nvSpPr>
        <p:spPr>
          <a:xfrm>
            <a:off x="10307572" y="4571484"/>
            <a:ext cx="2058174" cy="205817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51A171-181E-416A-9BB8-F6DBEB470707}"/>
              </a:ext>
            </a:extLst>
          </p:cNvPr>
          <p:cNvSpPr/>
          <p:nvPr userDrawn="1"/>
        </p:nvSpPr>
        <p:spPr>
          <a:xfrm>
            <a:off x="14576642" y="4571484"/>
            <a:ext cx="2058174" cy="205817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E6EF7CF-2190-49FE-8BAE-D2863ECD5CA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093288" y="4895334"/>
            <a:ext cx="1410474" cy="141047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47D99824-ECF4-4A44-A7CE-84F3AC262C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22388" y="4895334"/>
            <a:ext cx="1410474" cy="141047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1AE9D02-1431-4CC3-8919-5D21732C45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646738" y="4895334"/>
            <a:ext cx="1410474" cy="141047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9207058-4EB8-4D3C-B236-53DC24F30D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4932988" y="4895334"/>
            <a:ext cx="1410474" cy="141047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8565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9201150" y="1"/>
            <a:ext cx="9086850" cy="10286993"/>
          </a:xfrm>
          <a:prstGeom prst="rect">
            <a:avLst/>
          </a:prstGeom>
          <a:solidFill>
            <a:srgbClr val="DFE3E9"/>
          </a:solidFill>
        </p:spPr>
        <p:txBody>
          <a:bodyPr vert="horz" lIns="1944000" tIns="68580" rIns="648000" bIns="6858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500"/>
              </a:spcBef>
              <a:buFontTx/>
              <a:buNone/>
            </a:pPr>
            <a:endParaRPr lang="en-US" sz="21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1586" y="3351915"/>
            <a:ext cx="6012656" cy="2092812"/>
          </a:xfrm>
        </p:spPr>
        <p:txBody>
          <a:bodyPr lIns="0" anchor="b"/>
          <a:lstStyle>
            <a:lvl1pPr>
              <a:defRPr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1588" y="5543219"/>
            <a:ext cx="6012656" cy="904331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04384" y="1431337"/>
            <a:ext cx="1460639" cy="1460639"/>
          </a:xfrm>
          <a:prstGeom prst="ellipse">
            <a:avLst/>
          </a:prstGeom>
          <a:noFill/>
          <a:ln w="38100">
            <a:noFill/>
          </a:ln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Picture Placeholder 5" title="Decorative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04384" y="3368603"/>
            <a:ext cx="1460639" cy="146063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Picture Placeholder 5" title="Decorative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04384" y="5305870"/>
            <a:ext cx="1460639" cy="146063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4" name="Picture Placeholder 5" title="Decorative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04384" y="7243136"/>
            <a:ext cx="1460639" cy="146063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77485" y="1612214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577485" y="3548306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77485" y="5484398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577485" y="7420491"/>
            <a:ext cx="5966472" cy="1097541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877744" y="4914163"/>
            <a:ext cx="0" cy="3283208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</p:spTree>
    <p:extLst>
      <p:ext uri="{BB962C8B-B14F-4D97-AF65-F5344CB8AC3E}">
        <p14:creationId xmlns:p14="http://schemas.microsoft.com/office/powerpoint/2010/main" val="3045435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title="Decorative"/>
          <p:cNvSpPr/>
          <p:nvPr userDrawn="1"/>
        </p:nvSpPr>
        <p:spPr>
          <a:xfrm>
            <a:off x="0" y="1"/>
            <a:ext cx="18288000" cy="42145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372" y="895601"/>
            <a:ext cx="13152938" cy="1723988"/>
          </a:xfrm>
        </p:spPr>
        <p:txBody>
          <a:bodyPr l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8307" y="4576493"/>
            <a:ext cx="2465076" cy="246507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63396" y="4576493"/>
            <a:ext cx="2465076" cy="246507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8486" y="4591901"/>
            <a:ext cx="2465076" cy="246507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173574" y="4591901"/>
            <a:ext cx="2465076" cy="246507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7067" y="7908008"/>
            <a:ext cx="3776408" cy="1544187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067" y="7187219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414" y="7908008"/>
            <a:ext cx="3776408" cy="1544187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6414" y="7187219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25760" y="7923413"/>
            <a:ext cx="3776408" cy="1544187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5760" y="7202624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535105" y="7923413"/>
            <a:ext cx="3776408" cy="1544187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35105" y="7202624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21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9144000" y="1138900"/>
            <a:ext cx="0" cy="32832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662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title="Decorative"/>
          <p:cNvSpPr/>
          <p:nvPr userDrawn="1"/>
        </p:nvSpPr>
        <p:spPr>
          <a:xfrm>
            <a:off x="1" y="2946401"/>
            <a:ext cx="4579094" cy="3665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1" name="Rectangle 20" title="Decorative"/>
          <p:cNvSpPr/>
          <p:nvPr userDrawn="1"/>
        </p:nvSpPr>
        <p:spPr>
          <a:xfrm>
            <a:off x="9139273" y="2946401"/>
            <a:ext cx="4579094" cy="3665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8" name="Rectangle 27" title="Decorative"/>
          <p:cNvSpPr/>
          <p:nvPr userDrawn="1"/>
        </p:nvSpPr>
        <p:spPr>
          <a:xfrm>
            <a:off x="13708909" y="6621747"/>
            <a:ext cx="4579094" cy="3665253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160331" y="924525"/>
            <a:ext cx="11967341" cy="1593903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" name="Picture Placeholder 4" title="Decorative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6624828"/>
            <a:ext cx="4581144" cy="36621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Picture Placeholder 4" title="Decorative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9636" y="2946401"/>
            <a:ext cx="4581144" cy="36621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3" name="Picture Placeholder 4" title="Decorative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706856" y="2946401"/>
            <a:ext cx="4581144" cy="36621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6" name="Rectangle 25" title="Decorative"/>
          <p:cNvSpPr/>
          <p:nvPr userDrawn="1"/>
        </p:nvSpPr>
        <p:spPr>
          <a:xfrm>
            <a:off x="4569637" y="6621747"/>
            <a:ext cx="4579094" cy="366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96616" y="5479292"/>
            <a:ext cx="3776408" cy="726219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96616" y="4872803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538564" y="5479292"/>
            <a:ext cx="3776408" cy="726219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9538564" y="4872803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4933388" y="7751358"/>
            <a:ext cx="3776408" cy="726219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33388" y="7144870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14118422" y="7751358"/>
            <a:ext cx="3776408" cy="726219"/>
          </a:xfrm>
        </p:spPr>
        <p:txBody>
          <a:bodyPr lIns="0">
            <a:no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4118422" y="7144870"/>
            <a:ext cx="3776408" cy="574124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31" name="Picture Placeholder 4" title="Decorative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9272" y="6624828"/>
            <a:ext cx="4581144" cy="36621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193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1259959"/>
            <a:ext cx="7150893" cy="2013068"/>
          </a:xfrm>
        </p:spPr>
        <p:txBody>
          <a:bodyPr lIns="0"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3952864"/>
            <a:ext cx="7150893" cy="522489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  <a:latin typeface="+mn-lt"/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7300" y="3371519"/>
            <a:ext cx="7150893" cy="482852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906354" y="3371851"/>
            <a:ext cx="8430710" cy="5805488"/>
          </a:xfrm>
        </p:spPr>
        <p:txBody>
          <a:bodyPr/>
          <a:lstStyle/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F4DF3-3822-4AC9-9C82-C8D284E443EB}"/>
              </a:ext>
            </a:extLst>
          </p:cNvPr>
          <p:cNvSpPr/>
          <p:nvPr userDrawn="1"/>
        </p:nvSpPr>
        <p:spPr>
          <a:xfrm>
            <a:off x="8906354" y="3124200"/>
            <a:ext cx="8430710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</p:spTree>
    <p:extLst>
      <p:ext uri="{BB962C8B-B14F-4D97-AF65-F5344CB8AC3E}">
        <p14:creationId xmlns:p14="http://schemas.microsoft.com/office/powerpoint/2010/main" val="14475681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1259959"/>
            <a:ext cx="7150893" cy="2013068"/>
          </a:xfrm>
        </p:spPr>
        <p:txBody>
          <a:bodyPr lIns="0" anchor="b">
            <a:norm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3952864"/>
            <a:ext cx="7150893" cy="522489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  <a:latin typeface="+mn-lt"/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7300" y="3371519"/>
            <a:ext cx="7150893" cy="482852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906354" y="1259959"/>
            <a:ext cx="8430710" cy="7917380"/>
          </a:xfrm>
        </p:spPr>
        <p:txBody>
          <a:bodyPr/>
          <a:lstStyle/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7" name="Shape 62" title="Decorative">
            <a:extLst>
              <a:ext uri="{FF2B5EF4-FFF2-40B4-BE49-F238E27FC236}">
                <a16:creationId xmlns:a16="http://schemas.microsoft.com/office/drawing/2014/main" id="{5C48ADE8-5D65-4FF2-93E1-D504137454D1}"/>
              </a:ext>
            </a:extLst>
          </p:cNvPr>
          <p:cNvSpPr/>
          <p:nvPr userDrawn="1"/>
        </p:nvSpPr>
        <p:spPr>
          <a:xfrm flipV="1">
            <a:off x="8656211" y="1259958"/>
            <a:ext cx="0" cy="8055492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</p:spTree>
    <p:extLst>
      <p:ext uri="{BB962C8B-B14F-4D97-AF65-F5344CB8AC3E}">
        <p14:creationId xmlns:p14="http://schemas.microsoft.com/office/powerpoint/2010/main" val="40061986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E74C1-9E1A-46A4-9261-8F389FEAB7F4}"/>
              </a:ext>
            </a:extLst>
          </p:cNvPr>
          <p:cNvSpPr/>
          <p:nvPr userDrawn="1"/>
        </p:nvSpPr>
        <p:spPr>
          <a:xfrm>
            <a:off x="8591550" y="0"/>
            <a:ext cx="969645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1259959"/>
            <a:ext cx="7150893" cy="2013068"/>
          </a:xfrm>
        </p:spPr>
        <p:txBody>
          <a:bodyPr lIns="0" anchor="b">
            <a:norm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3952864"/>
            <a:ext cx="7150893" cy="522489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  <a:latin typeface="+mn-lt"/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7300" y="3371519"/>
            <a:ext cx="7150893" cy="482852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906354" y="1259959"/>
            <a:ext cx="8430710" cy="791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3001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E74C1-9E1A-46A4-9261-8F389FEAB7F4}"/>
              </a:ext>
            </a:extLst>
          </p:cNvPr>
          <p:cNvSpPr/>
          <p:nvPr userDrawn="1"/>
        </p:nvSpPr>
        <p:spPr>
          <a:xfrm>
            <a:off x="8591550" y="0"/>
            <a:ext cx="969645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1259959"/>
            <a:ext cx="7150893" cy="2013068"/>
          </a:xfrm>
        </p:spPr>
        <p:txBody>
          <a:bodyPr lIns="0" anchor="b">
            <a:norm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7300" y="3952864"/>
            <a:ext cx="7150893" cy="522489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  <a:latin typeface="+mn-lt"/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7300" y="3371519"/>
            <a:ext cx="7150893" cy="482852"/>
          </a:xfrm>
        </p:spPr>
        <p:txBody>
          <a:bodyPr lIns="0" anchor="t">
            <a:normAutofit/>
          </a:bodyPr>
          <a:lstStyle>
            <a:lvl1pPr marL="0" indent="0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906354" y="1259959"/>
            <a:ext cx="8430710" cy="791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82395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770" y="1031359"/>
            <a:ext cx="7150893" cy="2013068"/>
          </a:xfrm>
        </p:spPr>
        <p:txBody>
          <a:bodyPr lIns="0" anchor="b">
            <a:normAutofit/>
          </a:bodyPr>
          <a:lstStyle>
            <a:lvl1pPr algn="r">
              <a:defRPr sz="6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23130" y="1031360"/>
            <a:ext cx="8056110" cy="2013066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57300" y="3589021"/>
            <a:ext cx="16079763" cy="6251258"/>
          </a:xfrm>
        </p:spPr>
        <p:txBody>
          <a:bodyPr/>
          <a:lstStyle/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13132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770" y="1031359"/>
            <a:ext cx="7150893" cy="2013068"/>
          </a:xfrm>
        </p:spPr>
        <p:txBody>
          <a:bodyPr lIns="0" anchor="b">
            <a:normAutofit/>
          </a:bodyPr>
          <a:lstStyle>
            <a:lvl1pPr algn="r">
              <a:defRPr sz="6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23130" y="1031360"/>
            <a:ext cx="8056110" cy="2013066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100" spc="0">
                <a:solidFill>
                  <a:schemeClr val="tx2"/>
                </a:solidFill>
              </a:defRPr>
            </a:lvl1pPr>
            <a:lvl2pPr marL="685800" indent="0">
              <a:lnSpc>
                <a:spcPct val="100000"/>
              </a:lnSpc>
              <a:buNone/>
              <a:defRPr sz="1650" spc="0">
                <a:solidFill>
                  <a:schemeClr val="tx2"/>
                </a:solidFill>
              </a:defRPr>
            </a:lvl2pPr>
            <a:lvl3pPr marL="1371600" indent="0">
              <a:lnSpc>
                <a:spcPct val="100000"/>
              </a:lnSpc>
              <a:buNone/>
              <a:defRPr sz="1575" spc="0">
                <a:solidFill>
                  <a:schemeClr val="tx2"/>
                </a:solidFill>
              </a:defRPr>
            </a:lvl3pPr>
            <a:lvl4pPr marL="20574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4pPr>
            <a:lvl5pPr marL="2743200" indent="0">
              <a:lnSpc>
                <a:spcPct val="100000"/>
              </a:lnSpc>
              <a:buNone/>
              <a:defRPr sz="15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723130" y="3589021"/>
            <a:ext cx="8613933" cy="6035993"/>
          </a:xfrm>
        </p:spPr>
        <p:txBody>
          <a:bodyPr/>
          <a:lstStyle/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4" name="Picture Placeholder 3" title="Decorative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57300" y="3588068"/>
            <a:ext cx="7165182" cy="6035993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198700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1550" y="434340"/>
            <a:ext cx="16344900" cy="1339827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1550" y="1646045"/>
            <a:ext cx="16344900" cy="9043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spc="450">
                <a:solidFill>
                  <a:schemeClr val="tx2"/>
                </a:solidFill>
                <a:latin typeface="+mj-lt"/>
              </a:defRPr>
            </a:lvl1pPr>
            <a:lvl2pPr>
              <a:defRPr sz="1650">
                <a:solidFill>
                  <a:schemeClr val="tx2"/>
                </a:solidFill>
              </a:defRPr>
            </a:lvl2pPr>
            <a:lvl3pPr>
              <a:defRPr sz="1575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 title="Decorative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71550" y="2709863"/>
            <a:ext cx="16344900" cy="6867525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617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1622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noProof="0" dirty="0"/>
          </a:p>
        </p:txBody>
      </p:sp>
      <p:sp>
        <p:nvSpPr>
          <p:cNvPr id="4" name="Picture Placeholder 6" title="Decorative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4893" y="390525"/>
            <a:ext cx="6738938" cy="945118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7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6" name="Picture Placeholder 6" title="Decorative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758614" y="390525"/>
            <a:ext cx="6079332" cy="570547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7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7" name="Picture Placeholder 6" title="Decorative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758614" y="6248400"/>
            <a:ext cx="6079332" cy="359330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7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1" y="675045"/>
            <a:ext cx="3867149" cy="3762882"/>
          </a:xfrm>
        </p:spPr>
        <p:txBody>
          <a:bodyPr lIns="0" anchor="b">
            <a:normAutofit/>
          </a:bodyPr>
          <a:lstStyle>
            <a:lvl1pPr algn="l">
              <a:defRPr sz="6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418843" y="2939839"/>
            <a:ext cx="0" cy="3283208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</p:spTree>
    <p:extLst>
      <p:ext uri="{BB962C8B-B14F-4D97-AF65-F5344CB8AC3E}">
        <p14:creationId xmlns:p14="http://schemas.microsoft.com/office/powerpoint/2010/main" val="7796788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 title="Decorative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3" y="2246712"/>
            <a:ext cx="4694003" cy="80402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7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6" name="Picture Placeholder 6" title="Decorative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50071" y="-31006"/>
            <a:ext cx="4694004" cy="809560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7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92169" y="4078026"/>
            <a:ext cx="5123340" cy="3762882"/>
          </a:xfrm>
        </p:spPr>
        <p:txBody>
          <a:bodyPr lIns="0" anchor="b">
            <a:normAutofit/>
          </a:bodyPr>
          <a:lstStyle>
            <a:lvl1pPr algn="l">
              <a:defRPr sz="6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2833772" y="6422992"/>
            <a:ext cx="0" cy="3283208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28575" tIns="28575" rIns="28575" bIns="28575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2250" noProof="0" dirty="0"/>
          </a:p>
        </p:txBody>
      </p:sp>
    </p:spTree>
    <p:extLst>
      <p:ext uri="{BB962C8B-B14F-4D97-AF65-F5344CB8AC3E}">
        <p14:creationId xmlns:p14="http://schemas.microsoft.com/office/powerpoint/2010/main" val="12102159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 title="Decorative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9088" y="1890584"/>
            <a:ext cx="4224528" cy="476072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92052" y="0"/>
            <a:ext cx="4226346" cy="476352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042" y="6879622"/>
            <a:ext cx="8698356" cy="340737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9606" y="6879622"/>
            <a:ext cx="4226346" cy="340737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66834" y="3045655"/>
            <a:ext cx="4226346" cy="360565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741614" y="1"/>
            <a:ext cx="4226346" cy="665130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320042" y="1"/>
            <a:ext cx="4223574" cy="16496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Rectangle 8" title="Decorative"/>
          <p:cNvSpPr/>
          <p:nvPr userDrawn="1"/>
        </p:nvSpPr>
        <p:spPr>
          <a:xfrm>
            <a:off x="4794824" y="5001682"/>
            <a:ext cx="4223574" cy="16496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Rectangle 9" title="Decorative"/>
          <p:cNvSpPr/>
          <p:nvPr userDrawn="1"/>
        </p:nvSpPr>
        <p:spPr>
          <a:xfrm>
            <a:off x="9269606" y="1"/>
            <a:ext cx="4223574" cy="2817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Rectangle 10" title="Decorative"/>
          <p:cNvSpPr/>
          <p:nvPr userDrawn="1"/>
        </p:nvSpPr>
        <p:spPr>
          <a:xfrm>
            <a:off x="13744386" y="6898156"/>
            <a:ext cx="4223574" cy="33888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8963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6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8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i="0" kern="1200" spc="-225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3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>
          <p15:clr>
            <a:srgbClr val="F26B43"/>
          </p15:clr>
        </p15:guide>
        <p15:guide id="2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11.svg"/><Relationship Id="rId10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6.sv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23.png"/><Relationship Id="rId4" Type="http://schemas.openxmlformats.org/officeDocument/2006/relationships/image" Target="../media/image30.sv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66.sv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12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6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orkflow.opus.com/workflow/1FAox4bK4B7WpN1Q" TargetMode="External"/><Relationship Id="rId5" Type="http://schemas.openxmlformats.org/officeDocument/2006/relationships/image" Target="../media/image4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7932" y="1038048"/>
            <a:ext cx="750693" cy="608744"/>
          </a:xfrm>
          <a:custGeom>
            <a:avLst/>
            <a:gdLst/>
            <a:ahLst/>
            <a:cxnLst/>
            <a:rect l="l" t="t" r="r" b="b"/>
            <a:pathLst>
              <a:path w="750693" h="608744">
                <a:moveTo>
                  <a:pt x="0" y="0"/>
                </a:moveTo>
                <a:lnTo>
                  <a:pt x="750694" y="0"/>
                </a:lnTo>
                <a:lnTo>
                  <a:pt x="750694" y="608744"/>
                </a:lnTo>
                <a:lnTo>
                  <a:pt x="0" y="60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99051" y="-297445"/>
            <a:ext cx="9526307" cy="10901955"/>
          </a:xfrm>
          <a:custGeom>
            <a:avLst/>
            <a:gdLst/>
            <a:ahLst/>
            <a:cxnLst/>
            <a:rect l="l" t="t" r="r" b="b"/>
            <a:pathLst>
              <a:path w="9526307" h="10901955">
                <a:moveTo>
                  <a:pt x="0" y="0"/>
                </a:moveTo>
                <a:lnTo>
                  <a:pt x="9526307" y="0"/>
                </a:lnTo>
                <a:lnTo>
                  <a:pt x="9526307" y="10901956"/>
                </a:lnTo>
                <a:lnTo>
                  <a:pt x="0" y="10901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314" r="-1301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91487" y="7029762"/>
            <a:ext cx="5008199" cy="4714893"/>
          </a:xfrm>
          <a:custGeom>
            <a:avLst/>
            <a:gdLst/>
            <a:ahLst/>
            <a:cxnLst/>
            <a:rect l="l" t="t" r="r" b="b"/>
            <a:pathLst>
              <a:path w="5008199" h="4714893">
                <a:moveTo>
                  <a:pt x="0" y="0"/>
                </a:moveTo>
                <a:lnTo>
                  <a:pt x="5008198" y="0"/>
                </a:lnTo>
                <a:lnTo>
                  <a:pt x="5008198" y="4714893"/>
                </a:lnTo>
                <a:lnTo>
                  <a:pt x="0" y="4714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26159" y="-5428789"/>
            <a:ext cx="7378262" cy="8229600"/>
          </a:xfrm>
          <a:custGeom>
            <a:avLst/>
            <a:gdLst/>
            <a:ahLst/>
            <a:cxnLst/>
            <a:rect l="l" t="t" r="r" b="b"/>
            <a:pathLst>
              <a:path w="7378262" h="8229600">
                <a:moveTo>
                  <a:pt x="0" y="0"/>
                </a:moveTo>
                <a:lnTo>
                  <a:pt x="7378263" y="0"/>
                </a:lnTo>
                <a:lnTo>
                  <a:pt x="73782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87375" y="2992857"/>
            <a:ext cx="6456625" cy="60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8"/>
              </a:lnSpc>
            </a:pPr>
            <a:r>
              <a:rPr lang="en-US" sz="5400" dirty="0" smtClean="0">
                <a:solidFill>
                  <a:srgbClr val="000000"/>
                </a:solidFill>
                <a:latin typeface="Neue Machina Ultra-Bold"/>
              </a:rPr>
              <a:t>OPUS</a:t>
            </a:r>
            <a:endParaRPr lang="en-US" sz="5400" dirty="0">
              <a:solidFill>
                <a:srgbClr val="000000"/>
              </a:solidFill>
              <a:latin typeface="Neue Machina Ultra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4635198"/>
            <a:ext cx="8270351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4"/>
              </a:lnSpc>
            </a:pPr>
            <a:r>
              <a:rPr lang="en-US" sz="6699" dirty="0" smtClean="0">
                <a:solidFill>
                  <a:srgbClr val="000000"/>
                </a:solidFill>
                <a:latin typeface="Neue Machina Ultra-Bold"/>
              </a:rPr>
              <a:t>SLOP</a:t>
            </a:r>
          </a:p>
          <a:p>
            <a:pPr algn="l">
              <a:lnSpc>
                <a:spcPts val="7034"/>
              </a:lnSpc>
            </a:pPr>
            <a:r>
              <a:rPr lang="en-US" sz="6699" dirty="0" smtClean="0">
                <a:solidFill>
                  <a:srgbClr val="000000"/>
                </a:solidFill>
                <a:latin typeface="Neue Machina Ultra-Bold"/>
              </a:rPr>
              <a:t>DETECTOR</a:t>
            </a:r>
            <a:endParaRPr lang="en-US" sz="6699" dirty="0">
              <a:solidFill>
                <a:srgbClr val="000000"/>
              </a:solidFill>
              <a:latin typeface="Neue Machina Ultra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498" y="6877362"/>
            <a:ext cx="731303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fr-FR" sz="2000" dirty="0" smtClean="0"/>
              <a:t>AI CONTENT, MANIPULATION &amp; MISINFORMATION AUDIT WORKFLOW</a:t>
            </a:r>
            <a:endParaRPr lang="en-US" sz="200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11" name="TextBox 11"/>
          <p:cNvSpPr txBox="1"/>
          <p:nvPr/>
        </p:nvSpPr>
        <p:spPr>
          <a:xfrm rot="5400000">
            <a:off x="11826443" y="2754685"/>
            <a:ext cx="10287000" cy="477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66"/>
              </a:lnSpc>
              <a:spcBef>
                <a:spcPct val="0"/>
              </a:spcBef>
            </a:pPr>
            <a:r>
              <a:rPr lang="en-US" sz="27904" dirty="0" smtClean="0">
                <a:solidFill>
                  <a:srgbClr val="FFFFFF">
                    <a:alpha val="80000"/>
                  </a:srgbClr>
                </a:solidFill>
                <a:latin typeface="Neue Machina"/>
              </a:rPr>
              <a:t>2025</a:t>
            </a:r>
            <a:endParaRPr lang="en-US" sz="27904" dirty="0">
              <a:solidFill>
                <a:srgbClr val="FFFFFF">
                  <a:alpha val="80000"/>
                </a:srgbClr>
              </a:solidFill>
              <a:latin typeface="Neue Machin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14600" y="1294616"/>
            <a:ext cx="4676743" cy="383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ue Machina"/>
              </a:rPr>
              <a:t>ORBIDO</a:t>
            </a:r>
            <a:endParaRPr lang="en-US" sz="3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ue Machina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98" y="2139188"/>
            <a:ext cx="1686877" cy="1489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7368" y="1494820"/>
            <a:ext cx="7828185" cy="2700609"/>
            <a:chOff x="-314317" y="-38100"/>
            <a:chExt cx="10437579" cy="3600813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0123262" cy="2325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28"/>
                </a:lnSpc>
              </a:pPr>
              <a:r>
                <a:rPr lang="en-US" sz="5937" dirty="0" smtClean="0">
                  <a:solidFill>
                    <a:srgbClr val="212430"/>
                  </a:solidFill>
                  <a:latin typeface="Telegraf 1 Ultra-Bold"/>
                </a:rPr>
                <a:t>WHAT IS THE PROBLEM</a:t>
              </a:r>
              <a:r>
                <a:rPr lang="en-US" sz="5937" dirty="0">
                  <a:solidFill>
                    <a:srgbClr val="212430"/>
                  </a:solidFill>
                  <a:latin typeface="Telegraf 1 Ultra-Bold"/>
                </a:rPr>
                <a:t>?</a:t>
              </a:r>
              <a:endParaRPr lang="en-US" sz="5937" dirty="0">
                <a:solidFill>
                  <a:srgbClr val="212430"/>
                </a:solidFill>
                <a:latin typeface="Telegraf 1 Ultra-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14317" y="2927154"/>
              <a:ext cx="10123262" cy="63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899"/>
                </a:lnSpc>
              </a:pPr>
              <a:r>
                <a:rPr lang="en-US" sz="2999" dirty="0">
                  <a:solidFill>
                    <a:srgbClr val="212430"/>
                  </a:solidFill>
                  <a:latin typeface="Telegraf 1 Medium"/>
                </a:rPr>
                <a:t> </a:t>
              </a:r>
              <a:r>
                <a:rPr lang="en-US" sz="2800" dirty="0" smtClean="0">
                  <a:solidFill>
                    <a:srgbClr val="2124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THE SPREAD OF MISINFORMATION</a:t>
              </a:r>
              <a:endParaRPr lang="en-US" sz="2999" dirty="0">
                <a:solidFill>
                  <a:srgbClr val="2124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143000" y="7230527"/>
            <a:ext cx="20336538" cy="6112945"/>
            <a:chOff x="0" y="0"/>
            <a:chExt cx="6350000" cy="1908742"/>
          </a:xfrm>
          <a:solidFill>
            <a:srgbClr val="FFCCFF"/>
          </a:solidFill>
        </p:grpSpPr>
        <p:sp>
          <p:nvSpPr>
            <p:cNvPr id="7" name="Freeform 7"/>
            <p:cNvSpPr/>
            <p:nvPr/>
          </p:nvSpPr>
          <p:spPr>
            <a:xfrm>
              <a:off x="0" y="-55880"/>
              <a:ext cx="6350000" cy="1964622"/>
            </a:xfrm>
            <a:custGeom>
              <a:avLst/>
              <a:gdLst/>
              <a:ahLst/>
              <a:cxnLst/>
              <a:rect l="l" t="t" r="r" b="b"/>
              <a:pathLst>
                <a:path w="6350000" h="1964622">
                  <a:moveTo>
                    <a:pt x="5628640" y="177800"/>
                  </a:moveTo>
                  <a:cubicBezTo>
                    <a:pt x="5184140" y="96520"/>
                    <a:pt x="4733290" y="29210"/>
                    <a:pt x="4279900" y="67310"/>
                  </a:cubicBezTo>
                  <a:cubicBezTo>
                    <a:pt x="3841750" y="104140"/>
                    <a:pt x="3437890" y="316230"/>
                    <a:pt x="2997200" y="331470"/>
                  </a:cubicBezTo>
                  <a:cubicBezTo>
                    <a:pt x="2550160" y="346710"/>
                    <a:pt x="2101850" y="267970"/>
                    <a:pt x="1668780" y="167640"/>
                  </a:cubicBezTo>
                  <a:cubicBezTo>
                    <a:pt x="941070" y="0"/>
                    <a:pt x="364490" y="205740"/>
                    <a:pt x="0" y="417830"/>
                  </a:cubicBezTo>
                  <a:lnTo>
                    <a:pt x="0" y="1964622"/>
                  </a:lnTo>
                  <a:lnTo>
                    <a:pt x="6350000" y="1964622"/>
                  </a:lnTo>
                  <a:lnTo>
                    <a:pt x="6350000" y="327660"/>
                  </a:lnTo>
                  <a:cubicBezTo>
                    <a:pt x="6112510" y="265430"/>
                    <a:pt x="5867400" y="220980"/>
                    <a:pt x="5628640" y="17780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9" name="Freeform 9"/>
          <p:cNvSpPr/>
          <p:nvPr/>
        </p:nvSpPr>
        <p:spPr>
          <a:xfrm>
            <a:off x="8557073" y="1218943"/>
            <a:ext cx="586927" cy="561983"/>
          </a:xfrm>
          <a:custGeom>
            <a:avLst/>
            <a:gdLst/>
            <a:ahLst/>
            <a:cxnLst/>
            <a:rect l="l" t="t" r="r" b="b"/>
            <a:pathLst>
              <a:path w="586927" h="561983">
                <a:moveTo>
                  <a:pt x="0" y="0"/>
                </a:moveTo>
                <a:lnTo>
                  <a:pt x="586927" y="0"/>
                </a:lnTo>
                <a:lnTo>
                  <a:pt x="586927" y="561983"/>
                </a:lnTo>
                <a:lnTo>
                  <a:pt x="0" y="561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57073" y="3052995"/>
            <a:ext cx="572138" cy="631879"/>
          </a:xfrm>
          <a:custGeom>
            <a:avLst/>
            <a:gdLst/>
            <a:ahLst/>
            <a:cxnLst/>
            <a:rect l="l" t="t" r="r" b="b"/>
            <a:pathLst>
              <a:path w="572138" h="631879">
                <a:moveTo>
                  <a:pt x="0" y="0"/>
                </a:moveTo>
                <a:lnTo>
                  <a:pt x="572138" y="0"/>
                </a:lnTo>
                <a:lnTo>
                  <a:pt x="572138" y="631879"/>
                </a:lnTo>
                <a:lnTo>
                  <a:pt x="0" y="631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445552" y="4409027"/>
            <a:ext cx="809968" cy="739096"/>
          </a:xfrm>
          <a:custGeom>
            <a:avLst/>
            <a:gdLst/>
            <a:ahLst/>
            <a:cxnLst/>
            <a:rect l="l" t="t" r="r" b="b"/>
            <a:pathLst>
              <a:path w="809968" h="739096">
                <a:moveTo>
                  <a:pt x="0" y="0"/>
                </a:moveTo>
                <a:lnTo>
                  <a:pt x="809968" y="0"/>
                </a:lnTo>
                <a:lnTo>
                  <a:pt x="809968" y="739096"/>
                </a:lnTo>
                <a:lnTo>
                  <a:pt x="0" y="739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21548" y="5484455"/>
            <a:ext cx="657977" cy="733122"/>
          </a:xfrm>
          <a:custGeom>
            <a:avLst/>
            <a:gdLst/>
            <a:ahLst/>
            <a:cxnLst/>
            <a:rect l="l" t="t" r="r" b="b"/>
            <a:pathLst>
              <a:path w="657977" h="733122">
                <a:moveTo>
                  <a:pt x="0" y="0"/>
                </a:moveTo>
                <a:lnTo>
                  <a:pt x="657977" y="0"/>
                </a:lnTo>
                <a:lnTo>
                  <a:pt x="657977" y="733122"/>
                </a:lnTo>
                <a:lnTo>
                  <a:pt x="0" y="7331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499505" y="5493547"/>
            <a:ext cx="847465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46"/>
              </a:lnSpc>
            </a:pPr>
            <a:r>
              <a:rPr lang="en-US" sz="4000" dirty="0">
                <a:latin typeface="Bahnschrift SemiBold Condensed" panose="020B0502040204020203" pitchFamily="34" charset="0"/>
              </a:rPr>
              <a:t>No audit trail → </a:t>
            </a:r>
            <a:r>
              <a:rPr lang="en-US" sz="4000" b="1" dirty="0">
                <a:latin typeface="Bahnschrift SemiBold Condensed" panose="020B0502040204020203" pitchFamily="34" charset="0"/>
              </a:rPr>
              <a:t>zero transparency</a:t>
            </a:r>
            <a:r>
              <a:rPr lang="en-US" sz="4000" dirty="0">
                <a:latin typeface="Bahnschrift SemiBold Condensed" panose="020B0502040204020203" pitchFamily="34" charset="0"/>
              </a:rPr>
              <a:t> for decisions</a:t>
            </a:r>
            <a:endParaRPr lang="en-US" sz="3727" dirty="0">
              <a:solidFill>
                <a:srgbClr val="21243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49489" y="4361420"/>
            <a:ext cx="796588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44"/>
              </a:lnSpc>
            </a:pPr>
            <a:r>
              <a:rPr lang="en-US" sz="4000" dirty="0">
                <a:latin typeface="Bahnschrift SemiBold Condensed" panose="020B0502040204020203" pitchFamily="34" charset="0"/>
              </a:rPr>
              <a:t>High volume → </a:t>
            </a:r>
            <a:r>
              <a:rPr lang="en-US" sz="4000" b="1" dirty="0">
                <a:latin typeface="Bahnschrift SemiBold Condensed" panose="020B0502040204020203" pitchFamily="34" charset="0"/>
              </a:rPr>
              <a:t>slow &amp; expensive</a:t>
            </a:r>
            <a:r>
              <a:rPr lang="en-US" sz="4000" dirty="0">
                <a:latin typeface="Bahnschrift SemiBold Condensed" panose="020B0502040204020203" pitchFamily="34" charset="0"/>
              </a:rPr>
              <a:t>.</a:t>
            </a:r>
            <a:endParaRPr lang="en-US" sz="3726" dirty="0">
              <a:solidFill>
                <a:srgbClr val="21243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486605" y="2862379"/>
            <a:ext cx="848755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4"/>
              </a:lnSpc>
            </a:pPr>
            <a:r>
              <a:rPr lang="en-US" sz="4000" dirty="0">
                <a:latin typeface="Bahnschrift SemiBold Condensed" panose="020B0502040204020203" pitchFamily="34" charset="0"/>
              </a:rPr>
              <a:t>Detection requires </a:t>
            </a:r>
            <a:r>
              <a:rPr lang="en-US" sz="4000" b="1" dirty="0">
                <a:latin typeface="Bahnschrift SemiBold Condensed" panose="020B0502040204020203" pitchFamily="34" charset="0"/>
              </a:rPr>
              <a:t>both rules + reasoning</a:t>
            </a:r>
            <a:r>
              <a:rPr lang="en-US" sz="4000" dirty="0">
                <a:latin typeface="Bahnschrift SemiBold Condensed" panose="020B0502040204020203" pitchFamily="34" charset="0"/>
              </a:rPr>
              <a:t>.</a:t>
            </a:r>
            <a:endParaRPr lang="en-US" sz="3688" dirty="0">
              <a:solidFill>
                <a:srgbClr val="212430"/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8209815" y="1056926"/>
            <a:ext cx="10078185" cy="1288879"/>
            <a:chOff x="0" y="-85725"/>
            <a:chExt cx="13437580" cy="171850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22812"/>
              <a:ext cx="522813" cy="887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4"/>
                </a:lnSpc>
              </a:pPr>
              <a:r>
                <a:rPr lang="en-US" sz="4178">
                  <a:solidFill>
                    <a:srgbClr val="FFFFFF"/>
                  </a:solidFill>
                  <a:latin typeface="Telegraf 1"/>
                </a:rPr>
                <a:t>!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6987" y="-85725"/>
              <a:ext cx="11720593" cy="171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04"/>
                </a:lnSpc>
              </a:pPr>
              <a:r>
                <a:rPr lang="en-US" sz="3600" dirty="0">
                  <a:latin typeface="Bahnschrift SemiBold Condensed" panose="020B0502040204020203" pitchFamily="34" charset="0"/>
                </a:rPr>
                <a:t>Content arrives in </a:t>
              </a:r>
              <a:r>
                <a:rPr lang="en-US" sz="3600" b="1" dirty="0">
                  <a:latin typeface="Bahnschrift SemiBold Condensed" panose="020B0502040204020203" pitchFamily="34" charset="0"/>
                </a:rPr>
                <a:t>many formats</a:t>
              </a:r>
              <a:r>
                <a:rPr lang="en-US" sz="3600" dirty="0">
                  <a:latin typeface="Bahnschrift SemiBold Condensed" panose="020B0502040204020203" pitchFamily="34" charset="0"/>
                </a:rPr>
                <a:t> → text, images, PDFs, social posts, reels</a:t>
              </a:r>
              <a:endParaRPr lang="en-US" sz="3600" dirty="0">
                <a:solidFill>
                  <a:srgbClr val="212430"/>
                </a:solidFill>
                <a:latin typeface="Bahnschrift SemiBold Condensed" panose="020B0502040204020203" pitchFamily="34" charset="0"/>
              </a:endParaRP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00" y="4229218"/>
            <a:ext cx="12182411" cy="68526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871" y="6309974"/>
            <a:ext cx="10058400" cy="5657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61490" y="1009650"/>
            <a:ext cx="7197810" cy="1905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085553" y="2629721"/>
            <a:ext cx="7197810" cy="1905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085553" y="5727593"/>
            <a:ext cx="7197810" cy="1905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025395" y="7546512"/>
            <a:ext cx="7197810" cy="1905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061490" y="1784443"/>
            <a:ext cx="7197810" cy="190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097585" y="3465474"/>
            <a:ext cx="7197810" cy="190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049458" y="6914050"/>
            <a:ext cx="7197810" cy="190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061490" y="8839656"/>
            <a:ext cx="7197810" cy="190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-533400" y="6015531"/>
            <a:ext cx="6199990" cy="6176681"/>
          </a:xfrm>
          <a:custGeom>
            <a:avLst/>
            <a:gdLst/>
            <a:ahLst/>
            <a:cxnLst/>
            <a:rect l="l" t="t" r="r" b="b"/>
            <a:pathLst>
              <a:path w="6199990" h="6176681">
                <a:moveTo>
                  <a:pt x="0" y="0"/>
                </a:moveTo>
                <a:lnTo>
                  <a:pt x="6199990" y="0"/>
                </a:lnTo>
                <a:lnTo>
                  <a:pt x="6199990" y="6176681"/>
                </a:lnTo>
                <a:lnTo>
                  <a:pt x="0" y="6176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019175"/>
            <a:ext cx="6648450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 smtClean="0">
                <a:solidFill>
                  <a:srgbClr val="000000"/>
                </a:solidFill>
                <a:latin typeface="Neue Machina"/>
              </a:rPr>
              <a:t>OUR</a:t>
            </a:r>
          </a:p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 smtClean="0">
                <a:solidFill>
                  <a:srgbClr val="000000"/>
                </a:solidFill>
                <a:latin typeface="Neue Machina"/>
              </a:rPr>
              <a:t>SOLUTION</a:t>
            </a:r>
            <a:endParaRPr lang="en-US" sz="7702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75928" y="915770"/>
            <a:ext cx="17866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>
                <a:solidFill>
                  <a:srgbClr val="000000"/>
                </a:solidFill>
                <a:latin typeface="Neue Machina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75928" y="2350633"/>
            <a:ext cx="17866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>
                <a:solidFill>
                  <a:srgbClr val="000000"/>
                </a:solidFill>
                <a:latin typeface="Neue Machina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970" y="5507991"/>
            <a:ext cx="17866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 smtClean="0">
                <a:solidFill>
                  <a:srgbClr val="000000"/>
                </a:solidFill>
                <a:latin typeface="Neue Machina"/>
              </a:rPr>
              <a:t>04</a:t>
            </a:r>
            <a:endParaRPr lang="en-US" sz="7702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91970" y="7372660"/>
            <a:ext cx="17866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 smtClean="0">
                <a:solidFill>
                  <a:srgbClr val="000000"/>
                </a:solidFill>
                <a:latin typeface="Neue Machina"/>
              </a:rPr>
              <a:t>05</a:t>
            </a:r>
            <a:endParaRPr lang="en-US" sz="7702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61490" y="1174897"/>
            <a:ext cx="7197810" cy="46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2"/>
              </a:lnSpc>
              <a:spcBef>
                <a:spcPct val="0"/>
              </a:spcBef>
            </a:pP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DETECTS </a:t>
            </a: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AI GENERATED CONTENT</a:t>
            </a:r>
            <a:endParaRPr lang="en-US" sz="316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33416" y="7884080"/>
            <a:ext cx="719781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2"/>
              </a:lnSpc>
              <a:spcBef>
                <a:spcPct val="0"/>
              </a:spcBef>
            </a:pP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ROUTES BORDERLINE CASES TO HUMAN REVIEW</a:t>
            </a:r>
            <a:endParaRPr lang="en-US" sz="316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061490" y="5879993"/>
            <a:ext cx="7197810" cy="95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2"/>
              </a:lnSpc>
              <a:spcBef>
                <a:spcPct val="0"/>
              </a:spcBef>
            </a:pP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INDETIFIES IMAGE MANIPULATION</a:t>
            </a:r>
            <a:endParaRPr lang="en-US" sz="316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097585" y="2793345"/>
            <a:ext cx="719781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2"/>
              </a:lnSpc>
              <a:spcBef>
                <a:spcPct val="0"/>
              </a:spcBef>
            </a:pP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FLAGS MISINFORMATION</a:t>
            </a:r>
            <a:endParaRPr lang="en-US" sz="316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3940" y="4223108"/>
            <a:ext cx="8141181" cy="44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800" dirty="0" smtClean="0">
                <a:solidFill>
                  <a:srgbClr val="7030A0"/>
                </a:solidFill>
                <a:latin typeface="Open Sans 1 Bold"/>
              </a:rPr>
              <a:t>We built a reusable automation that:</a:t>
            </a:r>
            <a:endParaRPr lang="en-US" sz="2800" dirty="0">
              <a:solidFill>
                <a:srgbClr val="7030A0"/>
              </a:solidFill>
              <a:latin typeface="Open Sans 1 Bold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7975928" y="3852843"/>
            <a:ext cx="17866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7702" dirty="0" smtClean="0">
                <a:solidFill>
                  <a:srgbClr val="000000"/>
                </a:solidFill>
                <a:latin typeface="Neue Machina"/>
              </a:rPr>
              <a:t>03</a:t>
            </a:r>
            <a:endParaRPr lang="en-US" sz="7702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27" name="AutoShape 4"/>
          <p:cNvSpPr/>
          <p:nvPr/>
        </p:nvSpPr>
        <p:spPr>
          <a:xfrm>
            <a:off x="10025395" y="4073978"/>
            <a:ext cx="7197810" cy="1905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1"/>
          <p:cNvSpPr txBox="1"/>
          <p:nvPr/>
        </p:nvSpPr>
        <p:spPr>
          <a:xfrm>
            <a:off x="10085553" y="4299344"/>
            <a:ext cx="7197810" cy="46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2"/>
              </a:lnSpc>
              <a:spcBef>
                <a:spcPct val="0"/>
              </a:spcBef>
            </a:pPr>
            <a:r>
              <a:rPr lang="en-US" sz="3160" dirty="0" smtClean="0">
                <a:solidFill>
                  <a:srgbClr val="000000"/>
                </a:solidFill>
                <a:latin typeface="Neue Machina"/>
              </a:rPr>
              <a:t>GENERATES A FULL AUDIT REPORT</a:t>
            </a:r>
            <a:endParaRPr lang="en-US" sz="3160" dirty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29" name="AutoShape 7"/>
          <p:cNvSpPr/>
          <p:nvPr/>
        </p:nvSpPr>
        <p:spPr>
          <a:xfrm>
            <a:off x="10097585" y="5081590"/>
            <a:ext cx="7197810" cy="190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12048"/>
            <a:ext cx="2857260" cy="1013651"/>
            <a:chOff x="0" y="0"/>
            <a:chExt cx="3809680" cy="135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0704" cy="1351534"/>
            </a:xfrm>
            <a:custGeom>
              <a:avLst/>
              <a:gdLst/>
              <a:ahLst/>
              <a:cxnLst/>
              <a:rect l="l" t="t" r="r" b="b"/>
              <a:pathLst>
                <a:path w="1380704" h="1351534">
                  <a:moveTo>
                    <a:pt x="0" y="0"/>
                  </a:moveTo>
                  <a:lnTo>
                    <a:pt x="1380704" y="0"/>
                  </a:lnTo>
                  <a:lnTo>
                    <a:pt x="1380704" y="1351534"/>
                  </a:lnTo>
                  <a:lnTo>
                    <a:pt x="0" y="135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421344" y="612602"/>
              <a:ext cx="2388336" cy="376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234"/>
                </a:lnSpc>
              </a:pPr>
              <a:r>
                <a:rPr lang="en-US" sz="2482" dirty="0" smtClean="0">
                  <a:solidFill>
                    <a:srgbClr val="FFFFFF"/>
                  </a:solidFill>
                  <a:latin typeface="Proxima Nova"/>
                </a:rPr>
                <a:t>OPUS</a:t>
              </a:r>
              <a:endParaRPr lang="en-US" sz="2482" dirty="0">
                <a:solidFill>
                  <a:srgbClr val="FFFFFF"/>
                </a:solidFill>
                <a:latin typeface="Proxima Nova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1896786">
            <a:off x="15002497" y="-344790"/>
            <a:ext cx="4937760" cy="5143500"/>
          </a:xfrm>
          <a:custGeom>
            <a:avLst/>
            <a:gdLst/>
            <a:ahLst/>
            <a:cxnLst/>
            <a:rect l="l" t="t" r="r" b="b"/>
            <a:pathLst>
              <a:path w="4937760" h="5143500">
                <a:moveTo>
                  <a:pt x="0" y="0"/>
                </a:moveTo>
                <a:lnTo>
                  <a:pt x="4937760" y="0"/>
                </a:lnTo>
                <a:lnTo>
                  <a:pt x="493776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2573000" y="4305300"/>
            <a:ext cx="5429330" cy="5724618"/>
          </a:xfrm>
          <a:custGeom>
            <a:avLst/>
            <a:gdLst/>
            <a:ahLst/>
            <a:cxnLst/>
            <a:rect l="l" t="t" r="r" b="b"/>
            <a:pathLst>
              <a:path w="5429330" h="5724618">
                <a:moveTo>
                  <a:pt x="5429330" y="0"/>
                </a:moveTo>
                <a:lnTo>
                  <a:pt x="0" y="0"/>
                </a:lnTo>
                <a:lnTo>
                  <a:pt x="0" y="5724618"/>
                </a:lnTo>
                <a:lnTo>
                  <a:pt x="5429330" y="5724618"/>
                </a:lnTo>
                <a:lnTo>
                  <a:pt x="542933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4333" y="1998141"/>
            <a:ext cx="11984536" cy="282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8000" dirty="0" smtClean="0">
                <a:solidFill>
                  <a:srgbClr val="FFFFFF"/>
                </a:solidFill>
                <a:latin typeface="Tomorrow"/>
              </a:rPr>
              <a:t>DESIGNED AS A PLUGIN OR EXTENSION FOR:</a:t>
            </a:r>
            <a:endParaRPr lang="en-US" sz="8000" dirty="0">
              <a:solidFill>
                <a:srgbClr val="FFFFFF"/>
              </a:solidFill>
              <a:latin typeface="Tomorrow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1800" y="5524500"/>
            <a:ext cx="10058400" cy="56578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048500"/>
            <a:ext cx="3701142" cy="20818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91695"/>
            <a:ext cx="4130591" cy="23234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924288"/>
            <a:ext cx="5756191" cy="3237857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5800" y="5963938"/>
            <a:ext cx="3048000" cy="831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 smtClean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BROWSERS AND NEWS ARTICLES</a:t>
            </a:r>
            <a:endParaRPr lang="en-US" sz="2399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74934" y="6007648"/>
            <a:ext cx="304800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 smtClean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ANY HIGH-VOLUME SOCIAL CONTENT STREAM</a:t>
            </a:r>
            <a:endParaRPr lang="en-US" sz="2399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24781" y="5993889"/>
            <a:ext cx="304800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 smtClean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INSTAGRAM REELS AND TIK TOK VIDEOS</a:t>
            </a:r>
            <a:endParaRPr lang="en-US" sz="2399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0"/>
            <a:ext cx="18317029" cy="10073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57714" y="1813560"/>
            <a:ext cx="85344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12"/>
          <p:cNvSpPr txBox="1"/>
          <p:nvPr/>
        </p:nvSpPr>
        <p:spPr>
          <a:xfrm>
            <a:off x="990600" y="723900"/>
            <a:ext cx="6648450" cy="2429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3"/>
              </a:lnSpc>
              <a:spcBef>
                <a:spcPct val="0"/>
              </a:spcBef>
            </a:pPr>
            <a:r>
              <a:rPr lang="en-US" sz="9600" b="1" dirty="0" smtClean="0">
                <a:solidFill>
                  <a:srgbClr val="000000"/>
                </a:solidFill>
                <a:latin typeface="Neue Machina"/>
              </a:rPr>
              <a:t>WHY </a:t>
            </a:r>
            <a:r>
              <a:rPr lang="en-US" sz="11500" b="1" dirty="0" smtClean="0">
                <a:solidFill>
                  <a:srgbClr val="0070C0"/>
                </a:solidFill>
                <a:latin typeface="Neue Machina"/>
              </a:rPr>
              <a:t>OPUS?</a:t>
            </a:r>
            <a:endParaRPr lang="en-US" sz="11500" b="1" dirty="0" smtClean="0">
              <a:solidFill>
                <a:srgbClr val="0070C0"/>
              </a:solidFill>
              <a:latin typeface="Neue Machina"/>
            </a:endParaRPr>
          </a:p>
        </p:txBody>
      </p:sp>
      <p:graphicFrame>
        <p:nvGraphicFramePr>
          <p:cNvPr id="7" name="Content Placeholder 2" descr="Smart Art object">
            <a:extLst>
              <a:ext uri="{FF2B5EF4-FFF2-40B4-BE49-F238E27FC236}">
                <a16:creationId xmlns:a16="http://schemas.microsoft.com/office/drawing/2014/main" id="{59405A29-4A0F-429B-A6BA-2D3E9946C7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4763728"/>
              </p:ext>
            </p:extLst>
          </p:nvPr>
        </p:nvGraphicFramePr>
        <p:xfrm>
          <a:off x="1295400" y="3504565"/>
          <a:ext cx="10819147" cy="5845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633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t="14963" r="70000" b="70963"/>
          <a:stretch/>
        </p:blipFill>
        <p:spPr>
          <a:xfrm>
            <a:off x="4343400" y="256046"/>
            <a:ext cx="7499684" cy="2590800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613611" y="4152900"/>
            <a:ext cx="5334000" cy="1371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INTAKE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Condense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5943600" y="4152900"/>
            <a:ext cx="5638800" cy="1371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UNDERSTAND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Condense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11544300" y="4145797"/>
            <a:ext cx="5867400" cy="1371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DESIGN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Condense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609600" y="6389176"/>
            <a:ext cx="5600700" cy="1371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REVIEW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Condense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6210300" y="6389176"/>
            <a:ext cx="5334000" cy="1371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DELIVER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Condense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0" y="5953285"/>
            <a:ext cx="6206266" cy="61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941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67697" y="2701892"/>
            <a:ext cx="7004095" cy="8674100"/>
            <a:chOff x="0" y="0"/>
            <a:chExt cx="1657912" cy="2284537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1657912" cy="2284537"/>
            </a:xfrm>
            <a:custGeom>
              <a:avLst/>
              <a:gdLst/>
              <a:ahLst/>
              <a:cxnLst/>
              <a:rect l="l" t="t" r="r" b="b"/>
              <a:pathLst>
                <a:path w="1657912" h="2284537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grpFill/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  <a:solidFill>
              <a:schemeClr val="tx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72937" y="2503321"/>
            <a:ext cx="1868266" cy="1868266"/>
            <a:chOff x="0" y="0"/>
            <a:chExt cx="812800" cy="8128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03687" y="4460765"/>
            <a:ext cx="1868266" cy="1868266"/>
            <a:chOff x="0" y="0"/>
            <a:chExt cx="812800" cy="8128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03687" y="6852645"/>
            <a:ext cx="1868266" cy="1868266"/>
            <a:chOff x="0" y="0"/>
            <a:chExt cx="812800" cy="8128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33400" y="558719"/>
            <a:ext cx="1775460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52"/>
              </a:lnSpc>
            </a:pPr>
            <a:r>
              <a:rPr lang="en-US" sz="5400" dirty="0" smtClean="0">
                <a:solidFill>
                  <a:srgbClr val="002060"/>
                </a:solidFill>
                <a:latin typeface="Lato Bold"/>
              </a:rPr>
              <a:t> </a:t>
            </a:r>
            <a:r>
              <a:rPr lang="en-US" sz="8800" dirty="0" smtClean="0">
                <a:solidFill>
                  <a:srgbClr val="002060"/>
                </a:solidFill>
                <a:latin typeface="Impact" panose="020B0806030902050204" pitchFamily="34" charset="0"/>
              </a:rPr>
              <a:t>INTAKE    LAYER</a:t>
            </a:r>
            <a:r>
              <a:rPr lang="en-US" sz="5400" dirty="0" smtClean="0">
                <a:solidFill>
                  <a:srgbClr val="002060"/>
                </a:solidFill>
                <a:latin typeface="Impact" panose="020B0806030902050204" pitchFamily="34" charset="0"/>
              </a:rPr>
              <a:t>                       </a:t>
            </a:r>
            <a:r>
              <a:rPr lang="en-US" sz="8000" dirty="0" smtClean="0">
                <a:solidFill>
                  <a:srgbClr val="000000"/>
                </a:solidFill>
                <a:latin typeface="Impact" panose="020B0806030902050204" pitchFamily="34" charset="0"/>
              </a:rPr>
              <a:t>UNDERSTANDING     								                LAYER </a:t>
            </a:r>
            <a:endParaRPr lang="en-US" sz="8000" dirty="0">
              <a:solidFill>
                <a:srgbClr val="000000"/>
              </a:solidFill>
              <a:latin typeface="Impact" panose="020B0806030902050204" pitchFamily="34" charset="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2533" y="2183247"/>
            <a:ext cx="7441114" cy="216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96"/>
              </a:lnSpc>
              <a:spcBef>
                <a:spcPct val="0"/>
              </a:spcBef>
            </a:pPr>
            <a:r>
              <a:rPr lang="en-US" sz="32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Accepts 5 different inputs.</a:t>
            </a:r>
          </a:p>
          <a:p>
            <a:pPr>
              <a:lnSpc>
                <a:spcPts val="3396"/>
              </a:lnSpc>
              <a:spcBef>
                <a:spcPct val="0"/>
              </a:spcBef>
            </a:pPr>
            <a:endParaRPr lang="en-US" sz="2800" dirty="0">
              <a:latin typeface="Bahnschrift" panose="020B0502040204020203" pitchFamily="34" charset="0"/>
            </a:endParaRPr>
          </a:p>
          <a:p>
            <a:pPr>
              <a:lnSpc>
                <a:spcPts val="3396"/>
              </a:lnSpc>
              <a:spcBef>
                <a:spcPct val="0"/>
              </a:spcBef>
            </a:pPr>
            <a:r>
              <a:rPr lang="en-US" sz="2800" dirty="0" smtClean="0">
                <a:latin typeface="Bahnschrift" panose="020B0502040204020203" pitchFamily="34" charset="0"/>
              </a:rPr>
              <a:t>Parallel </a:t>
            </a:r>
            <a:r>
              <a:rPr lang="en-US" sz="2800" dirty="0">
                <a:latin typeface="Bahnschrift" panose="020B0502040204020203" pitchFamily="34" charset="0"/>
              </a:rPr>
              <a:t>processing ensures fast analysis, supporting high-volume feeds like </a:t>
            </a:r>
            <a:r>
              <a:rPr lang="en-US" sz="2800" b="1" dirty="0">
                <a:latin typeface="Bahnschrift" panose="020B0502040204020203" pitchFamily="34" charset="0"/>
              </a:rPr>
              <a:t>100+ social posts at once</a:t>
            </a:r>
            <a:r>
              <a:rPr lang="en-US" sz="2800" dirty="0"/>
              <a:t>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4572" y="5182524"/>
            <a:ext cx="7833883" cy="48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6"/>
              </a:lnSpc>
              <a:spcBef>
                <a:spcPct val="0"/>
              </a:spcBef>
            </a:pPr>
            <a:endParaRPr lang="en-US" sz="2825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13503" y="3141101"/>
            <a:ext cx="1638836" cy="40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dirty="0" smtClean="0">
                <a:solidFill>
                  <a:srgbClr val="000000"/>
                </a:solidFill>
                <a:latin typeface="League Spartan"/>
              </a:rPr>
              <a:t>METADATA</a:t>
            </a:r>
            <a:endParaRPr lang="en-US" sz="2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74059" y="5233315"/>
            <a:ext cx="1638836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400" dirty="0" smtClean="0">
                <a:solidFill>
                  <a:srgbClr val="000000"/>
                </a:solidFill>
                <a:latin typeface="League Spartan"/>
              </a:rPr>
              <a:t>OCR</a:t>
            </a:r>
            <a:endParaRPr lang="en-US" sz="24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233222" y="7543672"/>
            <a:ext cx="1638836" cy="33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dirty="0" smtClean="0">
                <a:solidFill>
                  <a:srgbClr val="000000"/>
                </a:solidFill>
                <a:latin typeface="League Spartan"/>
              </a:rPr>
              <a:t>API</a:t>
            </a:r>
            <a:endParaRPr lang="en-US" sz="1899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201295" y="3126120"/>
            <a:ext cx="5945273" cy="5424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We run specialized agents</a:t>
            </a:r>
            <a:r>
              <a:rPr lang="en-US" sz="3200" dirty="0" smtClean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:</a:t>
            </a:r>
          </a:p>
          <a:p>
            <a:endParaRPr lang="en-US" sz="2000" dirty="0">
              <a:latin typeface="Franklin Gothic Medium" panose="020B06030201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AI likelihood </a:t>
            </a:r>
            <a:r>
              <a:rPr lang="en-US" sz="2800" dirty="0" smtClean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detection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Linguistic anomaly </a:t>
            </a:r>
            <a:r>
              <a:rPr lang="en-US" sz="2800" dirty="0" smtClean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detection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Image manipulation/AI </a:t>
            </a:r>
            <a:r>
              <a:rPr lang="en-US" sz="2800" dirty="0" smtClean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detection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Claim extraction &amp; </a:t>
            </a:r>
            <a:r>
              <a:rPr lang="en-US" sz="2800" dirty="0" smtClean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fact preparation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Cambria" panose="02040503050406030204" pitchFamily="18" charset="0"/>
              </a:rPr>
              <a:t>Metadata checks &amp; pattern validation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endParaRPr lang="en-US" sz="1832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914120" y="4631898"/>
            <a:ext cx="5413851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96"/>
              </a:lnSpc>
              <a:buFont typeface="+mj-lt"/>
              <a:buAutoNum type="arabicPeriod"/>
            </a:pPr>
            <a:r>
              <a:rPr lang="en-US" sz="2425" b="1" dirty="0" smtClean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PDFs</a:t>
            </a:r>
          </a:p>
          <a:p>
            <a:pPr marL="457200" indent="-457200">
              <a:lnSpc>
                <a:spcPts val="3396"/>
              </a:lnSpc>
              <a:buFont typeface="+mj-lt"/>
              <a:buAutoNum type="arabicPeriod"/>
            </a:pPr>
            <a:r>
              <a:rPr lang="en-US" sz="2425" b="1" dirty="0" smtClean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Images</a:t>
            </a:r>
          </a:p>
          <a:p>
            <a:pPr marL="457200" indent="-457200">
              <a:lnSpc>
                <a:spcPts val="3396"/>
              </a:lnSpc>
              <a:buFont typeface="+mj-lt"/>
              <a:buAutoNum type="arabicPeriod"/>
            </a:pPr>
            <a:r>
              <a:rPr lang="en-US" sz="2425" b="1" dirty="0" smtClean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457200" indent="-457200">
              <a:lnSpc>
                <a:spcPts val="3396"/>
              </a:lnSpc>
              <a:buFont typeface="+mj-lt"/>
              <a:buAutoNum type="arabicPeriod"/>
            </a:pPr>
            <a:r>
              <a:rPr lang="en-US" sz="2425" b="1" dirty="0" smtClean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JSON</a:t>
            </a:r>
          </a:p>
          <a:p>
            <a:pPr marL="457200" indent="-457200">
              <a:lnSpc>
                <a:spcPts val="3396"/>
              </a:lnSpc>
              <a:buFont typeface="+mj-lt"/>
              <a:buAutoNum type="arabicPeriod"/>
            </a:pPr>
            <a:r>
              <a:rPr lang="en-US" sz="2425" b="1" dirty="0" smtClean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API </a:t>
            </a:r>
            <a:r>
              <a:rPr lang="en-US" sz="2425" b="1" dirty="0">
                <a:solidFill>
                  <a:srgbClr val="000000"/>
                </a:solidFill>
                <a:latin typeface="Bahnschrift SemiBold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 from public sources</a:t>
            </a:r>
            <a:endParaRPr lang="en-US" sz="2425" b="1" dirty="0">
              <a:solidFill>
                <a:srgbClr val="000000"/>
              </a:solidFill>
              <a:latin typeface="Bahnschrift SemiBold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237" y="4018943"/>
            <a:ext cx="15954416" cy="9091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851" y="347695"/>
            <a:ext cx="300896" cy="300896"/>
          </a:xfrm>
          <a:custGeom>
            <a:avLst/>
            <a:gdLst/>
            <a:ahLst/>
            <a:cxnLst/>
            <a:rect l="l" t="t" r="r" b="b"/>
            <a:pathLst>
              <a:path w="300896" h="300896">
                <a:moveTo>
                  <a:pt x="0" y="0"/>
                </a:moveTo>
                <a:lnTo>
                  <a:pt x="300896" y="0"/>
                </a:lnTo>
                <a:lnTo>
                  <a:pt x="300896" y="300895"/>
                </a:lnTo>
                <a:lnTo>
                  <a:pt x="0" y="300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15139" y="853003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0163" y="3027300"/>
            <a:ext cx="1644651" cy="1784820"/>
          </a:xfrm>
          <a:custGeom>
            <a:avLst/>
            <a:gdLst/>
            <a:ahLst/>
            <a:cxnLst/>
            <a:rect l="l" t="t" r="r" b="b"/>
            <a:pathLst>
              <a:path w="1136528" h="1263394">
                <a:moveTo>
                  <a:pt x="0" y="0"/>
                </a:moveTo>
                <a:lnTo>
                  <a:pt x="1136528" y="0"/>
                </a:lnTo>
                <a:lnTo>
                  <a:pt x="1136528" y="1263394"/>
                </a:lnTo>
                <a:lnTo>
                  <a:pt x="0" y="1263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13529" y="1304845"/>
            <a:ext cx="7856167" cy="88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7200" dirty="0" smtClean="0">
                <a:solidFill>
                  <a:srgbClr val="18072B"/>
                </a:solidFill>
                <a:latin typeface="Bauhaus 93" panose="04030905020B02020C02" pitchFamily="82" charset="0"/>
              </a:rPr>
              <a:t>DECISION LAYER</a:t>
            </a:r>
            <a:endParaRPr lang="en-US" sz="7200" dirty="0">
              <a:solidFill>
                <a:srgbClr val="18072B"/>
              </a:solidFill>
              <a:latin typeface="Bauhaus 93" panose="04030905020B02020C02" pitchFamily="82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26771" y="1531895"/>
            <a:ext cx="8969304" cy="707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9600" dirty="0" smtClean="0">
                <a:solidFill>
                  <a:srgbClr val="000000"/>
                </a:solidFill>
                <a:latin typeface="Bauhaus 93" panose="04030905020B02020C02" pitchFamily="82" charset="0"/>
              </a:rPr>
              <a:t>REVIEW LAYER</a:t>
            </a:r>
            <a:endParaRPr lang="en-US" sz="9600" dirty="0">
              <a:solidFill>
                <a:srgbClr val="000000"/>
              </a:solidFill>
              <a:latin typeface="Bauhaus 93" panose="04030905020B02020C02" pitchFamily="82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3866" y="3261339"/>
            <a:ext cx="7856167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0054342" y="2516448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>
                <a:solidFill>
                  <a:srgbClr val="FFFFFF"/>
                </a:solidFill>
                <a:latin typeface="Roboto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96869" y="2793262"/>
            <a:ext cx="557366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4004"/>
              </a:lnSpc>
              <a:buFont typeface="Wingdings" panose="05000000000000000000" pitchFamily="2" charset="2"/>
              <a:buChar char="v"/>
            </a:pPr>
            <a:r>
              <a:rPr lang="en-US" sz="4000" dirty="0" smtClean="0">
                <a:solidFill>
                  <a:srgbClr val="000000"/>
                </a:solidFill>
                <a:latin typeface="Roboto Bold"/>
              </a:rPr>
              <a:t>AGENTIC REVIEW</a:t>
            </a:r>
            <a:r>
              <a:rPr lang="en-US" sz="4000" dirty="0" smtClean="0">
                <a:solidFill>
                  <a:srgbClr val="000000"/>
                </a:solidFill>
                <a:latin typeface="Roboto Bold"/>
              </a:rPr>
              <a:t>:</a:t>
            </a:r>
            <a:endParaRPr lang="en-US" sz="4000" dirty="0">
              <a:solidFill>
                <a:srgbClr val="000000"/>
              </a:solidFill>
              <a:latin typeface="Robo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595141" y="6455587"/>
            <a:ext cx="7183988" cy="30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55" dirty="0" smtClean="0">
                <a:solidFill>
                  <a:srgbClr val="18072B"/>
                </a:solidFill>
                <a:latin typeface="Kollektif"/>
              </a:rPr>
              <a:t>.</a:t>
            </a:r>
            <a:endParaRPr lang="en-US" sz="1855" dirty="0">
              <a:solidFill>
                <a:srgbClr val="18072B"/>
              </a:solidFill>
              <a:latin typeface="Kollekti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29054" y="5661118"/>
            <a:ext cx="557366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004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solidFill>
                  <a:srgbClr val="000000"/>
                </a:solidFill>
                <a:latin typeface="Roboto Bold"/>
              </a:rPr>
              <a:t>HUMAN REVIEW</a:t>
            </a:r>
            <a:endParaRPr lang="en-US" sz="3600" dirty="0">
              <a:solidFill>
                <a:srgbClr val="000000"/>
              </a:solidFill>
              <a:latin typeface="Robo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776247" y="6317126"/>
            <a:ext cx="723346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5" dirty="0" smtClean="0">
                <a:solidFill>
                  <a:srgbClr val="18072B"/>
                </a:solidFill>
                <a:latin typeface="Kollektif"/>
              </a:rPr>
              <a:t>Triggered when:</a:t>
            </a:r>
          </a:p>
          <a:p>
            <a:pPr algn="l">
              <a:lnSpc>
                <a:spcPts val="3157"/>
              </a:lnSpc>
            </a:pPr>
            <a:endParaRPr lang="en-US" sz="2255" dirty="0">
              <a:solidFill>
                <a:srgbClr val="18072B"/>
              </a:solidFill>
              <a:latin typeface="Kollektif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384197" y="1040847"/>
            <a:ext cx="6002734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Bahnschrift" panose="020B0502040204020203" pitchFamily="34" charset="0"/>
                <a:ea typeface="Cambria" panose="02040503050406030204" pitchFamily="18" charset="0"/>
              </a:rPr>
              <a:t>TWO LAYERS: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" panose="020406040505050203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Century" panose="02040604050505020304" pitchFamily="18" charset="0"/>
                <a:ea typeface="Cambria" panose="02040503050406030204" pitchFamily="18" charset="0"/>
              </a:rPr>
              <a:t>DETERMINISTIC RULES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text length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OCR quality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metadata missing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misinformation signals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manipulation risk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AI score thresholds</a:t>
            </a: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4581544" y="1040847"/>
            <a:ext cx="6002734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" panose="020406040505050203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" panose="020406040505050203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 smtClean="0">
                <a:solidFill>
                  <a:srgbClr val="7030A0"/>
                </a:solidFill>
                <a:latin typeface="Century" panose="02040604050505020304" pitchFamily="18" charset="0"/>
                <a:ea typeface="Cambria" panose="02040503050406030204" pitchFamily="18" charset="0"/>
              </a:rPr>
              <a:t>2. AI SCORING ENGINE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Century" panose="020406040505050203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entury" panose="020406040505050203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 smtClean="0">
                <a:latin typeface="Franklin Gothic Medium" panose="020B0603020102020204" pitchFamily="34" charset="0"/>
                <a:ea typeface="Cambria" panose="02040503050406030204" pitchFamily="18" charset="0"/>
              </a:rPr>
              <a:t>AI likelihood</a:t>
            </a: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 err="1">
                <a:latin typeface="Franklin Gothic Medium" panose="020B0603020102020204" pitchFamily="34" charset="0"/>
                <a:ea typeface="Cambria" panose="02040503050406030204" pitchFamily="18" charset="0"/>
              </a:rPr>
              <a:t>m</a:t>
            </a:r>
            <a:r>
              <a:rPr lang="en-US" altLang="en-US" sz="2800" dirty="0" err="1" smtClean="0">
                <a:latin typeface="Franklin Gothic Medium" panose="020B0603020102020204" pitchFamily="34" charset="0"/>
                <a:ea typeface="Cambria" panose="02040503050406030204" pitchFamily="18" charset="0"/>
              </a:rPr>
              <a:t>isinfo</a:t>
            </a:r>
            <a:r>
              <a:rPr lang="en-US" altLang="en-US" sz="2800" dirty="0" smtClean="0">
                <a:latin typeface="Franklin Gothic Medium" panose="020B0603020102020204" pitchFamily="34" charset="0"/>
                <a:ea typeface="Cambria" panose="02040503050406030204" pitchFamily="18" charset="0"/>
              </a:rPr>
              <a:t> risk</a:t>
            </a: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 err="1">
                <a:latin typeface="Franklin Gothic Medium" panose="020B0603020102020204" pitchFamily="34" charset="0"/>
                <a:ea typeface="Cambria" panose="02040503050406030204" pitchFamily="18" charset="0"/>
              </a:rPr>
              <a:t>v</a:t>
            </a:r>
            <a:r>
              <a:rPr lang="en-US" altLang="en-US" sz="2800" dirty="0" err="1" smtClean="0">
                <a:latin typeface="Franklin Gothic Medium" panose="020B0603020102020204" pitchFamily="34" charset="0"/>
                <a:ea typeface="Cambria" panose="02040503050406030204" pitchFamily="18" charset="0"/>
              </a:rPr>
              <a:t>irality</a:t>
            </a: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>
                <a:latin typeface="Franklin Gothic Medium" panose="020B0603020102020204" pitchFamily="34" charset="0"/>
                <a:ea typeface="Cambria" panose="02040503050406030204" pitchFamily="18" charset="0"/>
              </a:rPr>
              <a:t>m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etadat</a:t>
            </a:r>
            <a:r>
              <a:rPr lang="en-US" altLang="en-US" sz="2800" dirty="0" smtClean="0">
                <a:latin typeface="Franklin Gothic Medium" panose="020B0603020102020204" pitchFamily="34" charset="0"/>
                <a:ea typeface="Cambria" panose="02040503050406030204" pitchFamily="18" charset="0"/>
              </a:rPr>
              <a:t>a penalty</a:t>
            </a: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Medium" panose="020B0603020102020204" pitchFamily="34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ea typeface="Cambria" panose="02040503050406030204" pitchFamily="18" charset="0"/>
              </a:rPr>
              <a:t>manipulation likelihood</a:t>
            </a:r>
          </a:p>
        </p:txBody>
      </p:sp>
      <p:sp>
        <p:nvSpPr>
          <p:cNvPr id="27" name="Freeform 3"/>
          <p:cNvSpPr/>
          <p:nvPr/>
        </p:nvSpPr>
        <p:spPr>
          <a:xfrm rot="16200000">
            <a:off x="3944974" y="4352881"/>
            <a:ext cx="9693852" cy="21436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1582400" y="3719121"/>
            <a:ext cx="45825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</a:rPr>
              <a:t>Enforces policy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</a:rPr>
              <a:t>Overrides unsafe output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</a:rPr>
              <a:t>Confirms inconsistencies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84278" y="6980935"/>
            <a:ext cx="9144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Franklin Gothic Medium" panose="020B06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Low confidence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Franklin Gothic Medium" panose="020B06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Borderline score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Franklin Gothic Medium" panose="020B06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Contradictory signals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Franklin Gothic Medium" panose="020B06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Missing </a:t>
            </a:r>
            <a:r>
              <a:rPr lang="en-US" sz="2400" dirty="0" smtClean="0">
                <a:latin typeface="Franklin Gothic Medium" panose="020B06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metadata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Franklin Gothic Medium" panose="020B06030201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endParaRPr lang="en-US" sz="2400" dirty="0">
              <a:latin typeface="Franklin Gothic Medium" panose="020B06030201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2000" dirty="0" smtClean="0"/>
              <a:t>THIS KEEPS A </a:t>
            </a:r>
            <a:r>
              <a:rPr lang="en-US" sz="2000" b="1" dirty="0" smtClean="0"/>
              <a:t>HUMAN IN THE LOOP</a:t>
            </a:r>
            <a:r>
              <a:rPr lang="en-US" sz="2000" dirty="0" smtClean="0"/>
              <a:t>, REQUIRED FOR RESPONSIBLE AI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2" r="30315" b="26611"/>
          <a:stretch/>
        </p:blipFill>
        <p:spPr>
          <a:xfrm>
            <a:off x="8736515" y="4229065"/>
            <a:ext cx="3352801" cy="415225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99954" y="7214974"/>
            <a:ext cx="5357186" cy="5330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76103" y="5155678"/>
            <a:ext cx="11535795" cy="447012"/>
          </a:xfrm>
          <a:custGeom>
            <a:avLst/>
            <a:gdLst/>
            <a:ahLst/>
            <a:cxnLst/>
            <a:rect l="l" t="t" r="r" b="b"/>
            <a:pathLst>
              <a:path w="11535795" h="447012">
                <a:moveTo>
                  <a:pt x="0" y="0"/>
                </a:moveTo>
                <a:lnTo>
                  <a:pt x="11535794" y="0"/>
                </a:lnTo>
                <a:lnTo>
                  <a:pt x="11535794" y="447012"/>
                </a:lnTo>
                <a:lnTo>
                  <a:pt x="0" y="44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3163476" y="6562660"/>
            <a:ext cx="1023770" cy="116285"/>
          </a:xfrm>
          <a:custGeom>
            <a:avLst/>
            <a:gdLst/>
            <a:ahLst/>
            <a:cxnLst/>
            <a:rect l="l" t="t" r="r" b="b"/>
            <a:pathLst>
              <a:path w="1023770" h="116285">
                <a:moveTo>
                  <a:pt x="1023770" y="0"/>
                </a:moveTo>
                <a:lnTo>
                  <a:pt x="0" y="0"/>
                </a:lnTo>
                <a:lnTo>
                  <a:pt x="0" y="116285"/>
                </a:lnTo>
                <a:lnTo>
                  <a:pt x="1023770" y="116285"/>
                </a:lnTo>
                <a:lnTo>
                  <a:pt x="10237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161503" b="-639604"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10434234" y="6562660"/>
            <a:ext cx="1023770" cy="116285"/>
          </a:xfrm>
          <a:custGeom>
            <a:avLst/>
            <a:gdLst/>
            <a:ahLst/>
            <a:cxnLst/>
            <a:rect l="l" t="t" r="r" b="b"/>
            <a:pathLst>
              <a:path w="1023770" h="116285">
                <a:moveTo>
                  <a:pt x="1023770" y="0"/>
                </a:moveTo>
                <a:lnTo>
                  <a:pt x="0" y="0"/>
                </a:lnTo>
                <a:lnTo>
                  <a:pt x="0" y="116285"/>
                </a:lnTo>
                <a:lnTo>
                  <a:pt x="1023770" y="116285"/>
                </a:lnTo>
                <a:lnTo>
                  <a:pt x="10237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161503" b="-639604"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>
            <a:off x="6809235" y="4004369"/>
            <a:ext cx="1023770" cy="116285"/>
          </a:xfrm>
          <a:custGeom>
            <a:avLst/>
            <a:gdLst/>
            <a:ahLst/>
            <a:cxnLst/>
            <a:rect l="l" t="t" r="r" b="b"/>
            <a:pathLst>
              <a:path w="1023770" h="116285">
                <a:moveTo>
                  <a:pt x="1023770" y="0"/>
                </a:moveTo>
                <a:lnTo>
                  <a:pt x="0" y="0"/>
                </a:lnTo>
                <a:lnTo>
                  <a:pt x="0" y="116285"/>
                </a:lnTo>
                <a:lnTo>
                  <a:pt x="1023770" y="116285"/>
                </a:lnTo>
                <a:lnTo>
                  <a:pt x="10237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161503" b="-639604"/>
            </a:stretch>
          </a:blipFill>
        </p:spPr>
      </p:sp>
      <p:sp>
        <p:nvSpPr>
          <p:cNvPr id="6" name="Freeform 6"/>
          <p:cNvSpPr/>
          <p:nvPr/>
        </p:nvSpPr>
        <p:spPr>
          <a:xfrm rot="5400000" flipH="1">
            <a:off x="14079993" y="4004369"/>
            <a:ext cx="1023770" cy="116285"/>
          </a:xfrm>
          <a:custGeom>
            <a:avLst/>
            <a:gdLst/>
            <a:ahLst/>
            <a:cxnLst/>
            <a:rect l="l" t="t" r="r" b="b"/>
            <a:pathLst>
              <a:path w="1023770" h="116285">
                <a:moveTo>
                  <a:pt x="1023771" y="0"/>
                </a:moveTo>
                <a:lnTo>
                  <a:pt x="0" y="0"/>
                </a:lnTo>
                <a:lnTo>
                  <a:pt x="0" y="116285"/>
                </a:lnTo>
                <a:lnTo>
                  <a:pt x="1023771" y="116285"/>
                </a:lnTo>
                <a:lnTo>
                  <a:pt x="1023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161503" b="-63960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757182" y="4402862"/>
            <a:ext cx="1952643" cy="195264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11C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44799" y="4402862"/>
            <a:ext cx="1952643" cy="195264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0F0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90558" y="4402862"/>
            <a:ext cx="1952643" cy="195264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36317" y="4402862"/>
            <a:ext cx="1952643" cy="195264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75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2700000">
            <a:off x="3257338" y="7063240"/>
            <a:ext cx="836045" cy="836045"/>
            <a:chOff x="0" y="0"/>
            <a:chExt cx="220193" cy="2201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0193" cy="220193"/>
            </a:xfrm>
            <a:custGeom>
              <a:avLst/>
              <a:gdLst/>
              <a:ahLst/>
              <a:cxnLst/>
              <a:rect l="l" t="t" r="r" b="b"/>
              <a:pathLst>
                <a:path w="220193" h="220193">
                  <a:moveTo>
                    <a:pt x="0" y="0"/>
                  </a:moveTo>
                  <a:lnTo>
                    <a:pt x="220193" y="0"/>
                  </a:lnTo>
                  <a:lnTo>
                    <a:pt x="220193" y="220193"/>
                  </a:lnTo>
                  <a:lnTo>
                    <a:pt x="0" y="22019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20193" cy="26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2700000">
            <a:off x="6903098" y="2860267"/>
            <a:ext cx="836045" cy="836045"/>
            <a:chOff x="0" y="0"/>
            <a:chExt cx="220193" cy="220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193" cy="220193"/>
            </a:xfrm>
            <a:custGeom>
              <a:avLst/>
              <a:gdLst/>
              <a:ahLst/>
              <a:cxnLst/>
              <a:rect l="l" t="t" r="r" b="b"/>
              <a:pathLst>
                <a:path w="220193" h="220193">
                  <a:moveTo>
                    <a:pt x="0" y="0"/>
                  </a:moveTo>
                  <a:lnTo>
                    <a:pt x="220193" y="0"/>
                  </a:lnTo>
                  <a:lnTo>
                    <a:pt x="220193" y="220193"/>
                  </a:lnTo>
                  <a:lnTo>
                    <a:pt x="0" y="22019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20193" cy="26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2700000">
            <a:off x="14194617" y="2860267"/>
            <a:ext cx="836045" cy="836045"/>
            <a:chOff x="0" y="0"/>
            <a:chExt cx="220193" cy="2201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0193" cy="220193"/>
            </a:xfrm>
            <a:custGeom>
              <a:avLst/>
              <a:gdLst/>
              <a:ahLst/>
              <a:cxnLst/>
              <a:rect l="l" t="t" r="r" b="b"/>
              <a:pathLst>
                <a:path w="220193" h="220193">
                  <a:moveTo>
                    <a:pt x="0" y="0"/>
                  </a:moveTo>
                  <a:lnTo>
                    <a:pt x="220193" y="0"/>
                  </a:lnTo>
                  <a:lnTo>
                    <a:pt x="220193" y="220193"/>
                  </a:lnTo>
                  <a:lnTo>
                    <a:pt x="0" y="22019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20193" cy="26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2700000">
            <a:off x="10548857" y="7063240"/>
            <a:ext cx="836045" cy="836045"/>
            <a:chOff x="0" y="0"/>
            <a:chExt cx="220193" cy="2201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193" cy="220193"/>
            </a:xfrm>
            <a:custGeom>
              <a:avLst/>
              <a:gdLst/>
              <a:ahLst/>
              <a:cxnLst/>
              <a:rect l="l" t="t" r="r" b="b"/>
              <a:pathLst>
                <a:path w="220193" h="220193">
                  <a:moveTo>
                    <a:pt x="0" y="0"/>
                  </a:moveTo>
                  <a:lnTo>
                    <a:pt x="220193" y="0"/>
                  </a:lnTo>
                  <a:lnTo>
                    <a:pt x="220193" y="220193"/>
                  </a:lnTo>
                  <a:lnTo>
                    <a:pt x="0" y="22019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20193" cy="26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6967524" y="4894100"/>
            <a:ext cx="893177" cy="950189"/>
          </a:xfrm>
          <a:custGeom>
            <a:avLst/>
            <a:gdLst/>
            <a:ahLst/>
            <a:cxnLst/>
            <a:rect l="l" t="t" r="r" b="b"/>
            <a:pathLst>
              <a:path w="893177" h="950189">
                <a:moveTo>
                  <a:pt x="0" y="0"/>
                </a:moveTo>
                <a:lnTo>
                  <a:pt x="893177" y="0"/>
                </a:lnTo>
                <a:lnTo>
                  <a:pt x="893177" y="950189"/>
                </a:lnTo>
                <a:lnTo>
                  <a:pt x="0" y="950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3278794" y="4886890"/>
            <a:ext cx="909419" cy="900325"/>
          </a:xfrm>
          <a:custGeom>
            <a:avLst/>
            <a:gdLst/>
            <a:ahLst/>
            <a:cxnLst/>
            <a:rect l="l" t="t" r="r" b="b"/>
            <a:pathLst>
              <a:path w="909419" h="900325">
                <a:moveTo>
                  <a:pt x="0" y="0"/>
                </a:moveTo>
                <a:lnTo>
                  <a:pt x="909419" y="0"/>
                </a:lnTo>
                <a:lnTo>
                  <a:pt x="909419" y="900325"/>
                </a:lnTo>
                <a:lnTo>
                  <a:pt x="0" y="900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521351" y="4886890"/>
            <a:ext cx="891058" cy="964609"/>
          </a:xfrm>
          <a:custGeom>
            <a:avLst/>
            <a:gdLst/>
            <a:ahLst/>
            <a:cxnLst/>
            <a:rect l="l" t="t" r="r" b="b"/>
            <a:pathLst>
              <a:path w="891058" h="964609">
                <a:moveTo>
                  <a:pt x="0" y="0"/>
                </a:moveTo>
                <a:lnTo>
                  <a:pt x="891058" y="0"/>
                </a:lnTo>
                <a:lnTo>
                  <a:pt x="891058" y="964609"/>
                </a:lnTo>
                <a:lnTo>
                  <a:pt x="0" y="964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257776" y="4901160"/>
            <a:ext cx="865865" cy="936070"/>
          </a:xfrm>
          <a:custGeom>
            <a:avLst/>
            <a:gdLst/>
            <a:ahLst/>
            <a:cxnLst/>
            <a:rect l="l" t="t" r="r" b="b"/>
            <a:pathLst>
              <a:path w="865865" h="936070">
                <a:moveTo>
                  <a:pt x="0" y="0"/>
                </a:moveTo>
                <a:lnTo>
                  <a:pt x="865865" y="0"/>
                </a:lnTo>
                <a:lnTo>
                  <a:pt x="865865" y="936070"/>
                </a:lnTo>
                <a:lnTo>
                  <a:pt x="0" y="9360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088883" y="3248239"/>
            <a:ext cx="3193716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TRUE</a:t>
            </a:r>
          </a:p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FALSE</a:t>
            </a:r>
          </a:p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NEEDS REVIEW. </a:t>
            </a:r>
            <a:endParaRPr lang="en-US" sz="1782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765922" y="2908675"/>
            <a:ext cx="4927289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MODEL DECISIONS</a:t>
            </a:r>
          </a:p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REVIEW ACTIONS</a:t>
            </a:r>
          </a:p>
          <a:p>
            <a:pPr algn="ctr">
              <a:lnSpc>
                <a:spcPts val="2673"/>
              </a:lnSpc>
            </a:pPr>
            <a:r>
              <a:rPr lang="en-US" sz="1782" dirty="0" smtClean="0">
                <a:solidFill>
                  <a:srgbClr val="000000"/>
                </a:solidFill>
                <a:latin typeface="Inter Bold"/>
              </a:rPr>
              <a:t>FINAL DECISIONS</a:t>
            </a:r>
            <a:endParaRPr lang="en-US" sz="1782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23013" y="2462695"/>
            <a:ext cx="3432561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3600" dirty="0" smtClean="0">
                <a:solidFill>
                  <a:srgbClr val="000000"/>
                </a:solidFill>
                <a:latin typeface="Inter Bold"/>
              </a:rPr>
              <a:t>FINAL RESULT</a:t>
            </a:r>
            <a:endParaRPr lang="en-US" sz="3600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610392" y="7502334"/>
            <a:ext cx="396045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582" dirty="0" smtClean="0">
                <a:solidFill>
                  <a:srgbClr val="000000"/>
                </a:solidFill>
                <a:latin typeface="Inter Bold"/>
              </a:rPr>
              <a:t>CLEAR EXPLANATIONS</a:t>
            </a:r>
          </a:p>
          <a:p>
            <a:pPr algn="ctr">
              <a:lnSpc>
                <a:spcPts val="2373"/>
              </a:lnSpc>
            </a:pPr>
            <a:r>
              <a:rPr lang="en-US" sz="1582" dirty="0" smtClean="0">
                <a:solidFill>
                  <a:srgbClr val="000000"/>
                </a:solidFill>
                <a:latin typeface="Inter Bold"/>
              </a:rPr>
              <a:t>FOR</a:t>
            </a:r>
          </a:p>
          <a:p>
            <a:pPr algn="ctr">
              <a:lnSpc>
                <a:spcPts val="2373"/>
              </a:lnSpc>
            </a:pPr>
            <a:r>
              <a:rPr lang="en-US" sz="1582" dirty="0" smtClean="0">
                <a:solidFill>
                  <a:srgbClr val="000000"/>
                </a:solidFill>
                <a:latin typeface="Inter Bold"/>
              </a:rPr>
              <a:t>FLAGGED CONTENT. </a:t>
            </a:r>
            <a:endParaRPr lang="en-US" sz="1582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921448" y="6615037"/>
            <a:ext cx="364939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3200" dirty="0" smtClean="0">
                <a:solidFill>
                  <a:srgbClr val="000000"/>
                </a:solidFill>
                <a:latin typeface="Inter Bold"/>
              </a:rPr>
              <a:t>FLAGS+REASONS</a:t>
            </a:r>
            <a:endParaRPr lang="en-US" sz="3200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845310" y="7288073"/>
            <a:ext cx="420322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dirty="0" smtClean="0">
                <a:solidFill>
                  <a:srgbClr val="000000"/>
                </a:solidFill>
                <a:latin typeface="Inter Bold"/>
              </a:rPr>
              <a:t>JSON</a:t>
            </a:r>
          </a:p>
          <a:p>
            <a:pPr algn="ctr">
              <a:lnSpc>
                <a:spcPts val="2223"/>
              </a:lnSpc>
            </a:pPr>
            <a:r>
              <a:rPr lang="en-US" dirty="0" smtClean="0">
                <a:solidFill>
                  <a:srgbClr val="000000"/>
                </a:solidFill>
                <a:latin typeface="Inter Bold"/>
              </a:rPr>
              <a:t>PDF</a:t>
            </a:r>
          </a:p>
          <a:p>
            <a:pPr algn="ctr">
              <a:lnSpc>
                <a:spcPts val="2223"/>
              </a:lnSpc>
            </a:pPr>
            <a:r>
              <a:rPr lang="en-US" dirty="0" smtClean="0">
                <a:solidFill>
                  <a:srgbClr val="000000"/>
                </a:solidFill>
                <a:latin typeface="Inter Bold"/>
              </a:rPr>
              <a:t>EXCEL SHEETS</a:t>
            </a:r>
          </a:p>
          <a:p>
            <a:pPr algn="ctr">
              <a:lnSpc>
                <a:spcPts val="2223"/>
              </a:lnSpc>
            </a:pPr>
            <a:endParaRPr lang="en-US" sz="1482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711427" y="6615037"/>
            <a:ext cx="447098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3600" dirty="0" smtClean="0">
                <a:solidFill>
                  <a:srgbClr val="000000"/>
                </a:solidFill>
                <a:latin typeface="Inter Bold"/>
              </a:rPr>
              <a:t>EXPORT OPTIONS</a:t>
            </a:r>
            <a:endParaRPr lang="en-US" sz="3600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043180" y="2322776"/>
            <a:ext cx="397526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3600" dirty="0" smtClean="0">
                <a:solidFill>
                  <a:srgbClr val="000000"/>
                </a:solidFill>
                <a:latin typeface="Inter Bold"/>
              </a:rPr>
              <a:t>AI EXPLANATION</a:t>
            </a:r>
            <a:endParaRPr lang="en-US" sz="3600" dirty="0">
              <a:solidFill>
                <a:srgbClr val="000000"/>
              </a:solidFill>
              <a:latin typeface="Inter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416336" y="7222280"/>
            <a:ext cx="518049" cy="43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FFFFFF"/>
                </a:solidFill>
                <a:latin typeface="Inter Bold"/>
              </a:rPr>
              <a:t>01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57348" y="3033833"/>
            <a:ext cx="518049" cy="43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FFFFFF"/>
                </a:solidFill>
                <a:latin typeface="Inter Bold"/>
              </a:rPr>
              <a:t>02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711517" y="7260380"/>
            <a:ext cx="518049" cy="43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FFFFFF"/>
                </a:solidFill>
                <a:latin typeface="Inter 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353614" y="3033833"/>
            <a:ext cx="518049" cy="43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FFFFFF"/>
                </a:solidFill>
                <a:latin typeface="Inter Bold"/>
              </a:rPr>
              <a:t>04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84116" y="598692"/>
            <a:ext cx="12504844" cy="928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  <a:spcBef>
                <a:spcPct val="0"/>
              </a:spcBef>
            </a:pPr>
            <a:r>
              <a:rPr lang="en-US" sz="9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DELIVERY STAGE</a:t>
            </a:r>
            <a:endParaRPr lang="en-US" sz="9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7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2413635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88994" y="2300927"/>
            <a:ext cx="7216806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8800" dirty="0" smtClean="0">
                <a:solidFill>
                  <a:srgbClr val="1211CA"/>
                </a:solidFill>
                <a:latin typeface="Montserrat Heavy"/>
              </a:rPr>
              <a:t>USE CASES</a:t>
            </a:r>
            <a:endParaRPr lang="en-US" sz="8800" dirty="0">
              <a:solidFill>
                <a:srgbClr val="1211CA"/>
              </a:solidFill>
              <a:latin typeface="Montserrat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0759" y="5026425"/>
            <a:ext cx="4737481" cy="22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dirty="0" smtClean="0">
                <a:solidFill>
                  <a:srgbClr val="2D262A"/>
                </a:solidFill>
                <a:latin typeface="Montserrat Classic"/>
              </a:rPr>
              <a:t>CHECKS:</a:t>
            </a:r>
          </a:p>
          <a:p>
            <a:pPr>
              <a:lnSpc>
                <a:spcPts val="2940"/>
              </a:lnSpc>
            </a:pPr>
            <a:endParaRPr lang="en-US" sz="2100" dirty="0" smtClean="0">
              <a:solidFill>
                <a:srgbClr val="2D262A"/>
              </a:solidFill>
              <a:latin typeface="Montserrat Classic"/>
            </a:endParaRPr>
          </a:p>
          <a:p>
            <a:pPr marL="800100" lvl="1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false claims</a:t>
            </a:r>
          </a:p>
          <a:p>
            <a:pPr marL="800100" lvl="1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AI-written articles</a:t>
            </a:r>
          </a:p>
          <a:p>
            <a:pPr marL="800100" lvl="1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image tampering</a:t>
            </a:r>
          </a:p>
          <a:p>
            <a:pPr marL="800100" lvl="1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metadata </a:t>
            </a:r>
            <a:r>
              <a:rPr lang="en-US" sz="2100" dirty="0">
                <a:solidFill>
                  <a:srgbClr val="2D262A"/>
                </a:solidFill>
                <a:latin typeface="Montserrat Classic"/>
              </a:rPr>
              <a:t>inconsistencies</a:t>
            </a:r>
            <a:endParaRPr lang="en-US" sz="2100" dirty="0">
              <a:solidFill>
                <a:srgbClr val="2D262A"/>
              </a:solidFill>
              <a:latin typeface="Montserrat Classic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0200" y="3706765"/>
            <a:ext cx="40386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3200" b="1" dirty="0" smtClean="0">
                <a:solidFill>
                  <a:srgbClr val="1211CA"/>
                </a:solidFill>
                <a:latin typeface="Montserrat Classic Bold"/>
              </a:rPr>
              <a:t>NEWS AND MEDIA</a:t>
            </a:r>
            <a:endParaRPr lang="en-US" sz="3200" b="1" dirty="0">
              <a:solidFill>
                <a:srgbClr val="1211CA"/>
              </a:solidFill>
              <a:latin typeface="Montserrat Classic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72400" y="3537438"/>
            <a:ext cx="35814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200" dirty="0" smtClean="0">
                <a:solidFill>
                  <a:srgbClr val="1211CA"/>
                </a:solidFill>
                <a:latin typeface="Montserrat Classic Bold"/>
              </a:rPr>
              <a:t>INSTAGRAM/TIK TOK</a:t>
            </a:r>
            <a:endParaRPr lang="en-US" sz="3200" dirty="0">
              <a:solidFill>
                <a:srgbClr val="1211CA"/>
              </a:solidFill>
              <a:latin typeface="Montserrat Classic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500954" y="3549855"/>
            <a:ext cx="340604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4000" dirty="0" smtClean="0">
                <a:solidFill>
                  <a:srgbClr val="1211CA"/>
                </a:solidFill>
                <a:latin typeface="Montserrat Classic Bold"/>
              </a:rPr>
              <a:t>CORPORATE</a:t>
            </a:r>
            <a:endParaRPr lang="en-US" sz="4000" dirty="0">
              <a:solidFill>
                <a:srgbClr val="1211CA"/>
              </a:solidFill>
              <a:latin typeface="Montserrat Class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32440" y="5626240"/>
            <a:ext cx="5010173" cy="185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Detect </a:t>
            </a:r>
            <a:r>
              <a:rPr lang="en-US" sz="2100" dirty="0">
                <a:solidFill>
                  <a:srgbClr val="2D262A"/>
                </a:solidFill>
                <a:latin typeface="Montserrat Classic"/>
              </a:rPr>
              <a:t>AI-generated </a:t>
            </a: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reels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face swaps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synthetic voices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AI-written captions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manipulated </a:t>
            </a:r>
            <a:r>
              <a:rPr lang="en-US" sz="2100" dirty="0">
                <a:solidFill>
                  <a:srgbClr val="2D262A"/>
                </a:solidFill>
                <a:latin typeface="Montserrat Classic"/>
              </a:rPr>
              <a:t>images</a:t>
            </a:r>
            <a:endParaRPr lang="en-US" sz="2100" dirty="0">
              <a:solidFill>
                <a:srgbClr val="2D262A"/>
              </a:solidFill>
              <a:latin typeface="Montserrat Classic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769329" y="5621000"/>
            <a:ext cx="4518671" cy="107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Fake invoices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Fabricated documents</a:t>
            </a:r>
          </a:p>
          <a:p>
            <a:pPr marL="342900" indent="-342900">
              <a:lnSpc>
                <a:spcPts val="2940"/>
              </a:lnSpc>
              <a:buFont typeface="Wingdings" panose="05000000000000000000" pitchFamily="2" charset="2"/>
              <a:buChar char="ü"/>
            </a:pPr>
            <a:r>
              <a:rPr lang="en-US" sz="2100" dirty="0" smtClean="0">
                <a:solidFill>
                  <a:srgbClr val="2D262A"/>
                </a:solidFill>
                <a:latin typeface="Montserrat Classic"/>
              </a:rPr>
              <a:t>Fake </a:t>
            </a:r>
            <a:r>
              <a:rPr lang="en-US" sz="2100" dirty="0">
                <a:solidFill>
                  <a:srgbClr val="2D262A"/>
                </a:solidFill>
                <a:latin typeface="Montserrat Classic"/>
              </a:rPr>
              <a:t>employee IDs </a:t>
            </a:r>
            <a:endParaRPr lang="en-US" sz="2100" dirty="0">
              <a:solidFill>
                <a:srgbClr val="2D262A"/>
              </a:solidFill>
              <a:latin typeface="Montserrat Classic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96401" y="952500"/>
            <a:ext cx="796290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SYSTEM IS INDUSTRY-AGNOSTIC AND REUSABLE</a:t>
            </a:r>
            <a:endParaRPr lang="en-US" sz="3600" b="1" dirty="0">
              <a:solidFill>
                <a:srgbClr val="1010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Classic Bold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91" y="3259781"/>
            <a:ext cx="2667000" cy="150018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349" y="2586807"/>
            <a:ext cx="4624102" cy="260105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620537"/>
            <a:ext cx="928437" cy="522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2876790">
            <a:off x="-2954377" y="-2041315"/>
            <a:ext cx="6803490" cy="5740445"/>
          </a:xfrm>
          <a:custGeom>
            <a:avLst/>
            <a:gdLst/>
            <a:ahLst/>
            <a:cxnLst/>
            <a:rect l="l" t="t" r="r" b="b"/>
            <a:pathLst>
              <a:path w="6803490" h="5740445">
                <a:moveTo>
                  <a:pt x="0" y="0"/>
                </a:moveTo>
                <a:lnTo>
                  <a:pt x="6803490" y="0"/>
                </a:lnTo>
                <a:lnTo>
                  <a:pt x="6803490" y="5740445"/>
                </a:lnTo>
                <a:lnTo>
                  <a:pt x="0" y="574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33007"/>
            <a:ext cx="11468100" cy="8533269"/>
            <a:chOff x="0" y="85725"/>
            <a:chExt cx="11665898" cy="11377689"/>
          </a:xfrm>
        </p:grpSpPr>
        <p:sp>
          <p:nvSpPr>
            <p:cNvPr id="6" name="TextBox 6"/>
            <p:cNvSpPr txBox="1"/>
            <p:nvPr/>
          </p:nvSpPr>
          <p:spPr>
            <a:xfrm>
              <a:off x="0" y="85725"/>
              <a:ext cx="11665898" cy="1607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350"/>
                </a:lnSpc>
              </a:pPr>
              <a:r>
                <a:rPr lang="en-US" sz="8500" spc="-170" dirty="0" smtClean="0">
                  <a:solidFill>
                    <a:srgbClr val="000000"/>
                  </a:solidFill>
                  <a:latin typeface="Tomorrow"/>
                </a:rPr>
                <a:t>PRODUCT VISION</a:t>
              </a:r>
              <a:endParaRPr lang="en-US" sz="8500" spc="-170" dirty="0">
                <a:solidFill>
                  <a:srgbClr val="000000"/>
                </a:solidFill>
                <a:latin typeface="Tomorrow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903808"/>
              <a:ext cx="11665898" cy="8559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  <a:latin typeface="Franklin Gothic Medium" panose="020B0603020102020204" pitchFamily="34" charset="0"/>
                </a:rPr>
                <a:t>A FULL MODERATION PLUGIN/EXTENSION THAT CAN BE EMBEDDED INTO:</a:t>
              </a:r>
            </a:p>
            <a:p>
              <a:pPr marL="1485900" lvl="2" indent="-571500">
                <a:buFont typeface="Wingdings" panose="05000000000000000000" pitchFamily="2" charset="2"/>
                <a:buChar char="v"/>
              </a:pPr>
              <a:r>
                <a:rPr lang="en-US" sz="3600" b="1" dirty="0" smtClean="0"/>
                <a:t>BROWSER EXTENSION FOR INSTAGRAM / TIKTOK INSPECTION</a:t>
              </a:r>
            </a:p>
            <a:p>
              <a:pPr marL="1485900" lvl="2" indent="-571500">
                <a:buFont typeface="Wingdings" panose="05000000000000000000" pitchFamily="2" charset="2"/>
                <a:buChar char="v"/>
              </a:pPr>
              <a:r>
                <a:rPr lang="en-US" sz="3600" b="1" dirty="0" smtClean="0"/>
                <a:t>NEWSROOM CMS</a:t>
              </a:r>
            </a:p>
            <a:p>
              <a:pPr marL="1485900" lvl="2" indent="-571500">
                <a:buFont typeface="Wingdings" panose="05000000000000000000" pitchFamily="2" charset="2"/>
                <a:buChar char="v"/>
              </a:pPr>
              <a:r>
                <a:rPr lang="en-US" sz="3600" b="1" dirty="0" smtClean="0"/>
                <a:t>SOCIAL MEDIA COMMAND CENTERS</a:t>
              </a:r>
            </a:p>
            <a:p>
              <a:pPr marL="1485900" lvl="2" indent="-571500">
                <a:buFont typeface="Wingdings" panose="05000000000000000000" pitchFamily="2" charset="2"/>
                <a:buChar char="v"/>
              </a:pPr>
              <a:r>
                <a:rPr lang="en-US" sz="3600" b="1" dirty="0" smtClean="0"/>
                <a:t>INTERNAL CORPORATE REVIEW TOOLS</a:t>
              </a:r>
            </a:p>
            <a:p>
              <a:endParaRPr lang="en-US" sz="3600" dirty="0"/>
            </a:p>
            <a:p>
              <a:pPr marL="571500" indent="-571500">
                <a:buFont typeface="Wingdings" panose="05000000000000000000" pitchFamily="2" charset="2"/>
                <a:buChar char="ü"/>
              </a:pPr>
              <a:r>
                <a:rPr lang="en-US" sz="3600" dirty="0"/>
                <a:t>User uploads or pastes a URL </a:t>
              </a:r>
              <a:r>
                <a:rPr lang="en-US" sz="3600" dirty="0" smtClean="0"/>
                <a:t>→</a:t>
              </a:r>
            </a:p>
            <a:p>
              <a:pPr marL="571500" indent="-571500">
                <a:buFont typeface="Wingdings" panose="05000000000000000000" pitchFamily="2" charset="2"/>
                <a:buChar char="ü"/>
              </a:pPr>
              <a:r>
                <a:rPr lang="en-US" sz="3600" dirty="0" smtClean="0"/>
                <a:t>Plugin </a:t>
              </a:r>
              <a:r>
                <a:rPr lang="en-US" sz="3600" dirty="0"/>
                <a:t>triggers Opus API </a:t>
              </a:r>
              <a:r>
                <a:rPr lang="en-US" sz="3600" dirty="0" smtClean="0"/>
                <a:t>→</a:t>
              </a:r>
            </a:p>
            <a:p>
              <a:pPr marL="571500" indent="-571500">
                <a:buFont typeface="Wingdings" panose="05000000000000000000" pitchFamily="2" charset="2"/>
                <a:buChar char="ü"/>
              </a:pPr>
              <a:r>
                <a:rPr lang="en-US" sz="3600" dirty="0" smtClean="0"/>
                <a:t>Receives </a:t>
              </a:r>
              <a:r>
                <a:rPr lang="en-US" sz="3600" dirty="0"/>
                <a:t>structured analysis + audit trail.</a:t>
              </a:r>
            </a:p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endParaRPr lang="en-US" sz="2500" dirty="0">
                <a:solidFill>
                  <a:srgbClr val="000000"/>
                </a:solidFill>
                <a:latin typeface="Proxima Nova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1"/>
          <a:stretch/>
        </p:blipFill>
        <p:spPr>
          <a:xfrm rot="1422875">
            <a:off x="12287583" y="-746300"/>
            <a:ext cx="9286729" cy="1408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3F9A722-C416-4CA0-9E81-3AB43962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800" dirty="0" smtClean="0">
                <a:latin typeface="Bauhaus 93" panose="04030905020B02020C02" pitchFamily="82" charset="0"/>
              </a:rPr>
              <a:t>MEET OUR TEAM</a:t>
            </a:r>
            <a:endParaRPr lang="en-US" sz="8800" dirty="0">
              <a:latin typeface="Bauhaus 93" panose="04030905020B02020C02" pitchFamily="8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6B8FC3-C6AB-4C05-AB1A-6A425F4371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AI Reasoning &amp; Policy</a:t>
            </a:r>
          </a:p>
          <a:p>
            <a:r>
              <a:rPr lang="en-US" dirty="0"/>
              <a:t>Engineer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905B54-BC78-4D3A-98A7-8BF350FAE6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smtClean="0"/>
              <a:t>KLEA TOMORRI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5D841AC-77B9-46F0-877E-EDFD058BCB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Review Intelligence &amp; Audit</a:t>
            </a:r>
          </a:p>
          <a:p>
            <a:r>
              <a:rPr lang="en-US" dirty="0"/>
              <a:t>Lead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0F164F-C51A-49BD-BCBB-07C7BED267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Muhammad</a:t>
            </a:r>
          </a:p>
          <a:p>
            <a:r>
              <a:rPr lang="en-US" dirty="0" err="1"/>
              <a:t>Hammad</a:t>
            </a:r>
            <a:r>
              <a:rPr lang="en-US" dirty="0"/>
              <a:t> </a:t>
            </a:r>
            <a:r>
              <a:rPr lang="en-US" dirty="0" err="1"/>
              <a:t>Khilji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6997EE2-4A7E-42BA-A9A4-CA8914C6CA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Flow Architect &amp; System</a:t>
            </a:r>
          </a:p>
          <a:p>
            <a:r>
              <a:rPr lang="en-US" dirty="0"/>
              <a:t>Orchestrator </a:t>
            </a:r>
            <a:endParaRPr lang="en-US" dirty="0"/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04A973-1FC1-4BD3-A8B8-0C46262D77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smtClean="0"/>
              <a:t>HAREM HARSHAD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1130C1-E2E7-4700-A220-231BB58349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smtClean="0"/>
              <a:t>Experience </a:t>
            </a:r>
            <a:r>
              <a:rPr lang="en-US" dirty="0"/>
              <a:t>&amp; Delivery</a:t>
            </a:r>
          </a:p>
          <a:p>
            <a:r>
              <a:rPr lang="en-US" dirty="0" err="1"/>
              <a:t>Enginee</a:t>
            </a:r>
            <a:r>
              <a:rPr lang="en-US" dirty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DC5EC52-0B52-4D0E-B00E-8E5EF35BC9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 err="1"/>
              <a:t>Naila</a:t>
            </a:r>
            <a:r>
              <a:rPr lang="en-US" dirty="0"/>
              <a:t> Sadia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9" r="3639"/>
          <a:stretch/>
        </p:blipFill>
        <p:spPr>
          <a:xfrm>
            <a:off x="368756" y="6237876"/>
            <a:ext cx="5806543" cy="4490296"/>
          </a:xfrm>
          <a:prstGeom prst="rect">
            <a:avLst/>
          </a:prstGeom>
        </p:spPr>
      </p:pic>
      <p:pic>
        <p:nvPicPr>
          <p:cNvPr id="26" name="Picture Placeholder 2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9" r="14829"/>
          <a:stretch/>
        </p:blipFill>
        <p:spPr>
          <a:xfrm>
            <a:off x="3633976" y="2070560"/>
            <a:ext cx="6375232" cy="509636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9" r="3639"/>
          <a:stretch/>
        </p:blipFill>
        <p:spPr>
          <a:xfrm>
            <a:off x="13764805" y="1970034"/>
            <a:ext cx="6728407" cy="52031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5"/>
          <a:stretch/>
        </p:blipFill>
        <p:spPr>
          <a:xfrm>
            <a:off x="8709796" y="6515100"/>
            <a:ext cx="6848410" cy="479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494939" y="7184856"/>
            <a:ext cx="4079488" cy="4146889"/>
          </a:xfrm>
          <a:custGeom>
            <a:avLst/>
            <a:gdLst/>
            <a:ahLst/>
            <a:cxnLst/>
            <a:rect l="l" t="t" r="r" b="b"/>
            <a:pathLst>
              <a:path w="4079488" h="4146889">
                <a:moveTo>
                  <a:pt x="0" y="0"/>
                </a:moveTo>
                <a:lnTo>
                  <a:pt x="4079488" y="0"/>
                </a:lnTo>
                <a:lnTo>
                  <a:pt x="4079488" y="4146888"/>
                </a:lnTo>
                <a:lnTo>
                  <a:pt x="0" y="4146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65525" y="7683742"/>
            <a:ext cx="3070381" cy="3648002"/>
          </a:xfrm>
          <a:custGeom>
            <a:avLst/>
            <a:gdLst/>
            <a:ahLst/>
            <a:cxnLst/>
            <a:rect l="l" t="t" r="r" b="b"/>
            <a:pathLst>
              <a:path w="3070381" h="3648002">
                <a:moveTo>
                  <a:pt x="0" y="0"/>
                </a:moveTo>
                <a:lnTo>
                  <a:pt x="3070381" y="0"/>
                </a:lnTo>
                <a:lnTo>
                  <a:pt x="3070381" y="3648002"/>
                </a:lnTo>
                <a:lnTo>
                  <a:pt x="0" y="364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60608" y="-942657"/>
            <a:ext cx="3265464" cy="3253187"/>
          </a:xfrm>
          <a:custGeom>
            <a:avLst/>
            <a:gdLst/>
            <a:ahLst/>
            <a:cxnLst/>
            <a:rect l="l" t="t" r="r" b="b"/>
            <a:pathLst>
              <a:path w="3265464" h="3253187">
                <a:moveTo>
                  <a:pt x="0" y="0"/>
                </a:moveTo>
                <a:lnTo>
                  <a:pt x="3265464" y="0"/>
                </a:lnTo>
                <a:lnTo>
                  <a:pt x="3265464" y="3253187"/>
                </a:lnTo>
                <a:lnTo>
                  <a:pt x="0" y="3253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554090">
            <a:off x="15252993" y="-660462"/>
            <a:ext cx="4971447" cy="3378324"/>
          </a:xfrm>
          <a:custGeom>
            <a:avLst/>
            <a:gdLst/>
            <a:ahLst/>
            <a:cxnLst/>
            <a:rect l="l" t="t" r="r" b="b"/>
            <a:pathLst>
              <a:path w="4971447" h="3378324">
                <a:moveTo>
                  <a:pt x="0" y="0"/>
                </a:moveTo>
                <a:lnTo>
                  <a:pt x="4971447" y="0"/>
                </a:lnTo>
                <a:lnTo>
                  <a:pt x="4971447" y="3378324"/>
                </a:lnTo>
                <a:lnTo>
                  <a:pt x="0" y="3378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5766" y="5524500"/>
            <a:ext cx="10440434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181"/>
              </a:lnSpc>
            </a:pPr>
            <a:r>
              <a:rPr lang="en-US" sz="4317" dirty="0" smtClean="0">
                <a:solidFill>
                  <a:srgbClr val="000000"/>
                </a:solidFill>
                <a:latin typeface="Neue Machina"/>
                <a:hlinkClick r:id="rId6"/>
              </a:rPr>
              <a:t>OPUS WORKFLOW LINK</a:t>
            </a:r>
            <a:endParaRPr lang="en-US" sz="4317" dirty="0" smtClean="0">
              <a:solidFill>
                <a:srgbClr val="000000"/>
              </a:solidFill>
              <a:latin typeface="Neue Machin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2600" y="2357095"/>
            <a:ext cx="7929205" cy="104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96"/>
              </a:lnSpc>
            </a:pPr>
            <a:r>
              <a:rPr lang="en-US" sz="7592" dirty="0" smtClean="0">
                <a:solidFill>
                  <a:srgbClr val="E735C3"/>
                </a:solidFill>
                <a:latin typeface="Neue Machina"/>
              </a:rPr>
              <a:t>LINKS:</a:t>
            </a:r>
            <a:endParaRPr lang="en-US" sz="7592" dirty="0">
              <a:solidFill>
                <a:srgbClr val="E735C3"/>
              </a:solidFill>
              <a:latin typeface="Neue Machi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6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954F72"/>
      </a:accent1>
      <a:accent2>
        <a:srgbClr val="0F3955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 template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 Template_Classic _Bold_Sophisticated_02_MS - v5" id="{0D41E119-70BC-460A-871B-170510AB4D35}" vid="{64C62F1B-F437-4409-9C0D-EDEE8FFAF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449</Words>
  <Application>Microsoft Office PowerPoint</Application>
  <PresentationFormat>Custom</PresentationFormat>
  <Paragraphs>183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55" baseType="lpstr">
      <vt:lpstr>Montserrat Classic</vt:lpstr>
      <vt:lpstr>Neue Machina</vt:lpstr>
      <vt:lpstr>Century</vt:lpstr>
      <vt:lpstr>League Spartan</vt:lpstr>
      <vt:lpstr>Wingdings</vt:lpstr>
      <vt:lpstr>Poppins</vt:lpstr>
      <vt:lpstr>Constantia</vt:lpstr>
      <vt:lpstr>Inter Bold</vt:lpstr>
      <vt:lpstr>Kollektif</vt:lpstr>
      <vt:lpstr>Corbel</vt:lpstr>
      <vt:lpstr>Calibri</vt:lpstr>
      <vt:lpstr>Gill Sans</vt:lpstr>
      <vt:lpstr>Roboto Bold</vt:lpstr>
      <vt:lpstr>Arial Black</vt:lpstr>
      <vt:lpstr>Calibri Light</vt:lpstr>
      <vt:lpstr>Helvetica Neue Medium</vt:lpstr>
      <vt:lpstr>Open Sans 1 Bold</vt:lpstr>
      <vt:lpstr>Bauhaus 93</vt:lpstr>
      <vt:lpstr>Raleway</vt:lpstr>
      <vt:lpstr>Neue Machina Ultra-Bold</vt:lpstr>
      <vt:lpstr>Montserrat Classic Bold</vt:lpstr>
      <vt:lpstr>Inter</vt:lpstr>
      <vt:lpstr>Microsoft Sans Serif</vt:lpstr>
      <vt:lpstr>Proxima Nova</vt:lpstr>
      <vt:lpstr>Helvetica Light</vt:lpstr>
      <vt:lpstr>Tomorrow</vt:lpstr>
      <vt:lpstr>Lato Bold</vt:lpstr>
      <vt:lpstr>Telegraf 1 Medium</vt:lpstr>
      <vt:lpstr>Montserrat Heavy</vt:lpstr>
      <vt:lpstr>Bahnschrift SemiBold</vt:lpstr>
      <vt:lpstr>Telegraf 1 Ultra-Bold</vt:lpstr>
      <vt:lpstr>Cambria</vt:lpstr>
      <vt:lpstr>Bahnschrift Condensed</vt:lpstr>
      <vt:lpstr>Franklin Gothic Medium</vt:lpstr>
      <vt:lpstr>Telegraf 1</vt:lpstr>
      <vt:lpstr>Arial</vt:lpstr>
      <vt:lpstr>Bahnschrift SemiBold Condensed</vt:lpstr>
      <vt:lpstr>Impact</vt:lpstr>
      <vt:lpstr>Bahnschrift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 OUR TEAM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SISTEMET E AUTOMATIZUARA</dc:title>
  <dc:creator>Lenovo T460p</dc:creator>
  <cp:lastModifiedBy>Lenovo T460p</cp:lastModifiedBy>
  <cp:revision>28</cp:revision>
  <dcterms:created xsi:type="dcterms:W3CDTF">2006-08-16T00:00:00Z</dcterms:created>
  <dcterms:modified xsi:type="dcterms:W3CDTF">2025-11-18T19:44:29Z</dcterms:modified>
  <dc:identifier>DAGIULc32SA</dc:identifier>
</cp:coreProperties>
</file>